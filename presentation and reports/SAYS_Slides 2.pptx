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17"/>
  </p:notesMasterIdLst>
  <p:handoutMasterIdLst>
    <p:handoutMasterId r:id="rId18"/>
  </p:handoutMasterIdLst>
  <p:sldIdLst>
    <p:sldId id="2561" r:id="rId5"/>
    <p:sldId id="2563" r:id="rId6"/>
    <p:sldId id="2565" r:id="rId7"/>
    <p:sldId id="2567" r:id="rId8"/>
    <p:sldId id="2573" r:id="rId9"/>
    <p:sldId id="2571" r:id="rId10"/>
    <p:sldId id="2581" r:id="rId11"/>
    <p:sldId id="2569" r:id="rId12"/>
    <p:sldId id="2577" r:id="rId13"/>
    <p:sldId id="2575" r:id="rId14"/>
    <p:sldId id="2579" r:id="rId15"/>
    <p:sldId id="258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8B2D7-0C9E-4A79-8C44-748B7D35B60A}" v="23" dt="2025-11-27T09:58:52.654"/>
    <p1510:client id="{B0CF23E2-4A55-4B44-B0B8-95A34DD19223}" v="367" dt="2025-11-27T10:14:26.780"/>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97" autoAdjust="0"/>
    <p:restoredTop sz="94469"/>
  </p:normalViewPr>
  <p:slideViewPr>
    <p:cSldViewPr snapToGrid="0">
      <p:cViewPr varScale="1">
        <p:scale>
          <a:sx n="47" d="100"/>
          <a:sy n="47" d="100"/>
        </p:scale>
        <p:origin x="888" y="43"/>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11/30/2025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was developed as part of the DA 231o </a:t>
            </a:r>
            <a:r>
              <a:rPr lang="en-US" i="0" dirty="0"/>
              <a:t>Data Engineering at Scale </a:t>
            </a:r>
            <a:r>
              <a:rPr lang="en-US" dirty="0"/>
              <a:t>(August 2025 Term), during the M.Tech (Online) program at IISc by four professionals named as Ajay Kumar Gupta, </a:t>
            </a:r>
            <a:r>
              <a:rPr lang="en-IN" dirty="0"/>
              <a:t>Srinivas Shavukapu</a:t>
            </a:r>
            <a:r>
              <a:rPr lang="en-US" dirty="0"/>
              <a:t>, Sonu Goyal, Yuvaraj 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21797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project titled 'Song Analysis and Yielding Suggestions (SAYS)' was developed as part of the DA 231o Data Engineering at Scale course during the August 2025 term. The primary objective of this project is to design and implement a scalable music recommendation system that leverages user interaction data and audio features to generate personalized recommendations. The system aims to address the challenges posed by the exponential growth of music streaming platforms, where users are often overwhelmed by vast content and demand highly personalized experiences. The authors of the project include Ajay Kumar Gupta, Srinivas </a:t>
            </a:r>
            <a:r>
              <a:rPr lang="en-US" dirty="0" err="1"/>
              <a:t>Shavukapu</a:t>
            </a:r>
            <a:r>
              <a:rPr lang="en-US" dirty="0"/>
              <a:t> Kattegummula, Sonu Goyal, and Yuvaraj G, who collaborated to create a robust solution using big data technologies and machine learning techniques. This presentation will provide a comprehensive overview of the problem statement, motivation, design goals, architecture, methods, evaluation metrics, key outcomes, challenges faced, and future extensions of the project.</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2208099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core problem addressed by the SAYS project is the difficulty users face in discovering relevant music content amidst the massive libraries offered by streaming platforms. Traditional recommendation systems often struggle with scalability, real-time performance, and adaptability to dynamic user behavior. As user expectations for personalized experiences continue to rise, there is a pressing need for systems that can process large-scale datasets efficiently and deliver recommendations with low latency. The motivation behind this project stems from the limitations of conventional approaches and the opportunity to leverage big data frameworks like Apache Spark to build a distributed, fault-tolerant pipeline. By integrating machine learning models and real-time orchestration tools, the project aims to enhance user engagement and satisfaction through accurate and timely recommendations.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934555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design goals of the SAYS project are centered around four key aspects: scalability, performance, reliability, and flexibility. Scalability ensures that the system can handle millions of user-song interactions without degradation in performance. Performance focuses on delivering low-latency recommendations to maintain a seamless user experience. Reliability is achieved through automated orchestration with retry mechanisms to handle failures gracefully. Flexibility emphasizes ease of deployment and integration with user interfaces. To meet these goals, the system incorporates distributed data processing, ML-based collaborative filtering, an interactive UI for recommendations, and automated pipeline orchestration. These objectives collectively ensure that the system is robust, efficient, and adaptable to evolving user needs.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216043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dataset used in the SAYS project consists of user-song interaction records, including fields such as </a:t>
            </a:r>
            <a:r>
              <a:rPr lang="en-US" dirty="0" err="1"/>
              <a:t>user_id</a:t>
            </a:r>
            <a:r>
              <a:rPr lang="en-US" dirty="0"/>
              <a:t>, </a:t>
            </a:r>
            <a:r>
              <a:rPr lang="en-US" dirty="0" err="1"/>
              <a:t>track_id</a:t>
            </a:r>
            <a:r>
              <a:rPr lang="en-US" dirty="0"/>
              <a:t>, and rating. Additionally, audio features like tempo, energy, and danceability were incorporated to enrich the recommendation process. An explicit Spark schema was defined to ensure type safety and maintain data quality throughout the pipeline. The model training process involved splitting the dataset into an 80/20 train-test ratio, enabling robust evaluation of recommendation accuracy. By combining interaction data with audio features, the system delivers more personalized and context-aware recommendations.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2060007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approach adopted in the SAYS project involves building a distributed ETL pipeline that processes raw user interaction data, engineers relevant features, and trains a machine learning model for recommendations. The ALS collaborative filtering algorithm was chosen for its effectiveness in handling large-scale recommendation tasks. Key parameters for ALS include Rank set to 20, Iterations set to 10, and Regularization parameter set to 0.1. To address the cold start problem, a drop strategy was implemented, and non-negative constraints were applied. The pipeline is orchestrated using Prefect, which automates task execution and error handling. The final recommendations are served through a </a:t>
            </a:r>
            <a:r>
              <a:rPr lang="en-US" dirty="0" err="1"/>
              <a:t>Streamlit</a:t>
            </a:r>
            <a:r>
              <a:rPr lang="en-US" dirty="0"/>
              <a:t>-based UI, ensuring an intuitive and responsive user experience.</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2249212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900E0-CFD9-7ED7-A206-42EBD68DA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5243D-EA8A-9AA7-8F3C-EB73B4140B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5B51DBB-DCB2-C609-17D2-070C3EF23EA5}"/>
              </a:ext>
            </a:extLst>
          </p:cNvPr>
          <p:cNvSpPr>
            <a:spLocks noGrp="1"/>
          </p:cNvSpPr>
          <p:nvPr>
            <p:ph type="body" idx="1"/>
          </p:nvPr>
        </p:nvSpPr>
        <p:spPr/>
        <p:txBody>
          <a:bodyPr/>
          <a:lstStyle/>
          <a:p>
            <a:r>
              <a:rPr lang="en-US" dirty="0"/>
              <a:t>The approach adopted in the SAYS project involves building a distributed ETL pipeline that processes raw user interaction data, engineers relevant features, and trains a machine learning model for recommendations. The ALS collaborative filtering algorithm was chosen for its effectiveness in handling large-scale recommendation tasks. Key parameters for ALS include Rank set to 20, Iterations set to 10, and Regularization parameter set to 0.1. To address the cold start problem, a drop strategy was implemented, and non-negative constraints were applied. The pipeline is orchestrated using Prefect, which automates task execution and error handling. The final recommendations are served through a </a:t>
            </a:r>
            <a:r>
              <a:rPr lang="en-US" dirty="0" err="1"/>
              <a:t>Streamlit</a:t>
            </a:r>
            <a:r>
              <a:rPr lang="en-US" dirty="0"/>
              <a:t>-based UI, ensuring an intuitive and responsive user experience.</a:t>
            </a:r>
          </a:p>
        </p:txBody>
      </p:sp>
      <p:sp>
        <p:nvSpPr>
          <p:cNvPr id="4" name="Slide Number Placeholder 3">
            <a:extLst>
              <a:ext uri="{FF2B5EF4-FFF2-40B4-BE49-F238E27FC236}">
                <a16:creationId xmlns:a16="http://schemas.microsoft.com/office/drawing/2014/main" id="{7CCF42C5-BDC1-1889-D2F8-8E6F706C92D7}"/>
              </a:ext>
            </a:extLst>
          </p:cNvPr>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2725321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architecture of the SAYS system is designed as a distributed pipeline comprising multiple layers. The Data Layer handles raw CSV files and converts them into optimized Parquet format for efficient storage and querying. The Processing Layer utilizes Apache Spark for distributed transformations and feature engineering. The Model Layer implements ALS (Alternating Least Squares) collaborative filtering to generate personalized recommendations. Orchestration is managed by Prefect, which ensures task scheduling, retries, and logging for reliability. The UI Layer is built using </a:t>
            </a:r>
            <a:r>
              <a:rPr lang="en-US" dirty="0" err="1"/>
              <a:t>Streamlit</a:t>
            </a:r>
            <a:r>
              <a:rPr lang="en-US" dirty="0"/>
              <a:t>, providing an interactive interface for users to access recommendations in real time. Finally, deployment is facilitated through Docker, enabling containerization and portability across environments. This layered architecture ensures modularity, scalability, and fault tolerance.</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1497306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SAYS project successfully met its design goals by delivering a scalable, distributed pipeline capable of processing large volumes of user interaction and audio feature data. Key achievements include horizontal scalability through Spark-based transformations, performance benchmarks with RMSE ≈ 0.85, and robust automation using Prefect for workflow management. The integration of a </a:t>
            </a:r>
            <a:r>
              <a:rPr lang="en-US" dirty="0" err="1"/>
              <a:t>Streamlit</a:t>
            </a:r>
            <a:r>
              <a:rPr lang="en-US" dirty="0"/>
              <a:t> UI provided real-time recommendations with configurable parameters, enhancing user experience. Deployment via Docker ensured portability and reproducibility across environments. These outcomes collectively demonstrate the effectiveness of the system in addressing the challenges of modern music recommendation platforms.</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2156023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evaluation of the SAYS system was conducted using standard metrics such as RMSE (Root Mean Square Error) and MAE (Mean Absolute Error). The model achieved an RMSE of approximately 0.85 and an MAE of around 0.65, indicating high accuracy in generating recommendations. The experiment design included an 80/20 train-test split and analysis of scalability metrics such as Spark shuffle partitions and execution time for ETL and training. Additional visualizations, including RMSE vs. iterations, rating distribution histograms, and Top-K recommendation accuracy plots, were generated to provide deeper insights into model performance and user behavior.</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2515158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Several challenges were encountered during the development of the SAYS system. Data quality issues were mitigated through schema validation and null handling. The cold start problem was addressed by configuring ALS with non-negative constraints and implementing a drop strategy. Pipeline reliability was ensured through automated error handling and dependency management using Prefect. These measures collectively enhanced the robustness and accuracy of the system.</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2940771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Future enhancements for the SAYS system include integrating hybrid models that combine collaborative filtering with content-based or deep learning approaches, enabling more sophisticated recommendations. Real-time streaming capabilities can be added through Apache Kafka for live data ingestion. Cloud deployment on platforms like AWS or GCP will provide elastic scaling and managed services. Additional improvements to the UI, such as visual analytics and personalized dashboards, will enhance user engagement. Finally, integrating APIs like Spotify will allow access to live datasets, further enriching the recommendation process.</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1721680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11/30/2025</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11/30/2025</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11/30/2025</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11/30/2025</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11/30/2025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11/30/2025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11/30/2025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11/30/2025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11/30/2025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11/30/2025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11/30/2025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11/30/2025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11/30/2025</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11/30/2025</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11/30/2025</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11/30/2025</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11/30/2025</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11/30/2025</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11/30/2025</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11/30/2025</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11/30/2025</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11/30/2025</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11/30/2025</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11/30/2025</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11/30/2025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11/30/2025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11/30/2025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11/30/2025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11/30/2025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11/30/2025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11/30/2025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11/30/2025</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11/30/2025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11/30/2025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11/30/2025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11/30/2025</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11/30/2025</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11/30/2025</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11/30/2025</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11/30/2025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11/30/2025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11/30/2025</a:t>
            </a:fld>
            <a:endParaRPr lang="en-US"/>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7F89E8DC-6CE8-B298-215F-8BDEA4E90761}"/>
              </a:ext>
            </a:extLst>
          </p:cNvPr>
          <p:cNvSpPr txBox="1"/>
          <p:nvPr>
            <p:extLst>
              <p:ext uri="{1162E1C5-73C7-4A58-AE30-91384D911F3F}">
                <p184:classification xmlns:p184="http://schemas.microsoft.com/office/powerpoint/2018/4/main" val="ftr"/>
              </p:ext>
            </p:extLst>
          </p:nvPr>
        </p:nvSpPr>
        <p:spPr>
          <a:xfrm>
            <a:off x="63500" y="6642100"/>
            <a:ext cx="13811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Personal - Individual Use</a:t>
            </a:r>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1B27C-FC83-2F14-9A8E-EF3B0E8CAFA9}"/>
              </a:ext>
            </a:extLst>
          </p:cNvPr>
          <p:cNvSpPr>
            <a:spLocks noGrp="1"/>
          </p:cNvSpPr>
          <p:nvPr>
            <p:ph type="title"/>
          </p:nvPr>
        </p:nvSpPr>
        <p:spPr>
          <a:xfrm>
            <a:off x="1200147" y="4618196"/>
            <a:ext cx="9784077" cy="639762"/>
          </a:xfrm>
        </p:spPr>
        <p:txBody>
          <a:bodyPr anchor="b">
            <a:normAutofit/>
          </a:bodyPr>
          <a:lstStyle/>
          <a:p>
            <a:pPr>
              <a:lnSpc>
                <a:spcPct val="90000"/>
              </a:lnSpc>
            </a:pPr>
            <a:r>
              <a:rPr lang="en-US" sz="3000" dirty="0"/>
              <a:t>Song Analysis and Yielding Suggestions (SAYS)</a:t>
            </a:r>
          </a:p>
        </p:txBody>
      </p:sp>
      <p:sp>
        <p:nvSpPr>
          <p:cNvPr id="4" name="Footer Placeholder 3">
            <a:extLst>
              <a:ext uri="{FF2B5EF4-FFF2-40B4-BE49-F238E27FC236}">
                <a16:creationId xmlns:a16="http://schemas.microsoft.com/office/drawing/2014/main" id="{5394F66A-A1E1-6ECC-EC52-A2EDA865BA18}"/>
              </a:ext>
            </a:extLst>
          </p:cNvPr>
          <p:cNvSpPr>
            <a:spLocks noGrp="1"/>
          </p:cNvSpPr>
          <p:nvPr>
            <p:ph type="ftr" sz="quarter" idx="15"/>
          </p:nvPr>
        </p:nvSpPr>
        <p:spPr>
          <a:xfrm rot="16200000">
            <a:off x="-1005840" y="1525384"/>
            <a:ext cx="2805405" cy="365125"/>
          </a:xfrm>
        </p:spPr>
        <p:txBody>
          <a:bodyPr anchor="ctr">
            <a:noAutofit/>
          </a:bodyPr>
          <a:lstStyle/>
          <a:p>
            <a:pPr>
              <a:spcAft>
                <a:spcPts val="600"/>
              </a:spcAft>
            </a:pPr>
            <a:r>
              <a:rPr lang="en-US" sz="2000" dirty="0"/>
              <a:t>PROJECT TITLE</a:t>
            </a:r>
          </a:p>
        </p:txBody>
      </p:sp>
      <p:sp>
        <p:nvSpPr>
          <p:cNvPr id="3" name="Subtitle 2">
            <a:extLst>
              <a:ext uri="{FF2B5EF4-FFF2-40B4-BE49-F238E27FC236}">
                <a16:creationId xmlns:a16="http://schemas.microsoft.com/office/drawing/2014/main" id="{D744ABCA-70A0-A555-F183-C15D7A9E0FBD}"/>
              </a:ext>
            </a:extLst>
          </p:cNvPr>
          <p:cNvSpPr>
            <a:spLocks noGrp="1"/>
          </p:cNvSpPr>
          <p:nvPr>
            <p:ph type="body" sz="quarter" idx="17"/>
          </p:nvPr>
        </p:nvSpPr>
        <p:spPr>
          <a:xfrm>
            <a:off x="1200147" y="5314472"/>
            <a:ext cx="9784842" cy="476728"/>
          </a:xfrm>
        </p:spPr>
        <p:txBody>
          <a:bodyPr>
            <a:normAutofit/>
          </a:bodyPr>
          <a:lstStyle/>
          <a:p>
            <a:r>
              <a:rPr lang="en-US" dirty="0"/>
              <a:t>Authors: Ajay Kumar Gupta, </a:t>
            </a:r>
            <a:r>
              <a:rPr lang="en-IN" dirty="0"/>
              <a:t>Srinivas Shavukapu</a:t>
            </a:r>
            <a:r>
              <a:rPr lang="en-US" dirty="0"/>
              <a:t>, Sonu Goyal, Yuvaraj G</a:t>
            </a:r>
          </a:p>
          <a:p>
            <a:endParaRPr lang="en-US" dirty="0"/>
          </a:p>
        </p:txBody>
      </p:sp>
      <p:pic>
        <p:nvPicPr>
          <p:cNvPr id="6" name="Picture 5" descr="Sound waves and bars with gradient red and blue colour">
            <a:extLst>
              <a:ext uri="{FF2B5EF4-FFF2-40B4-BE49-F238E27FC236}">
                <a16:creationId xmlns:a16="http://schemas.microsoft.com/office/drawing/2014/main" id="{25057502-C50F-4AE2-BDA1-97C9AD83EAC3}"/>
              </a:ext>
            </a:extLst>
          </p:cNvPr>
          <p:cNvPicPr>
            <a:picLocks noChangeAspect="1"/>
          </p:cNvPicPr>
          <p:nvPr/>
        </p:nvPicPr>
        <p:blipFill>
          <a:blip r:embed="rId3"/>
          <a:srcRect t="17938" r="1" b="27711"/>
          <a:stretch>
            <a:fillRect/>
          </a:stretch>
        </p:blipFill>
        <p:spPr>
          <a:xfrm>
            <a:off x="808258" y="404999"/>
            <a:ext cx="10575485" cy="3836802"/>
          </a:xfrm>
          <a:prstGeom prst="rect">
            <a:avLst/>
          </a:prstGeom>
          <a:noFill/>
        </p:spPr>
      </p:pic>
      <p:sp>
        <p:nvSpPr>
          <p:cNvPr id="5" name="Slide Number Placeholder 4">
            <a:extLst>
              <a:ext uri="{FF2B5EF4-FFF2-40B4-BE49-F238E27FC236}">
                <a16:creationId xmlns:a16="http://schemas.microsoft.com/office/drawing/2014/main" id="{460FEB1E-E6CC-31F4-6BB7-4D629AC5A549}"/>
              </a:ext>
            </a:extLst>
          </p:cNvPr>
          <p:cNvSpPr>
            <a:spLocks noGrp="1"/>
          </p:cNvSpPr>
          <p:nvPr>
            <p:ph type="sldNum" sz="quarter" idx="16"/>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
        <p:nvSpPr>
          <p:cNvPr id="7" name="TextBox 6">
            <a:extLst>
              <a:ext uri="{FF2B5EF4-FFF2-40B4-BE49-F238E27FC236}">
                <a16:creationId xmlns:a16="http://schemas.microsoft.com/office/drawing/2014/main" id="{C32879BD-E7EB-3720-D54A-2861641F19A8}"/>
              </a:ext>
            </a:extLst>
          </p:cNvPr>
          <p:cNvSpPr txBox="1"/>
          <p:nvPr/>
        </p:nvSpPr>
        <p:spPr>
          <a:xfrm>
            <a:off x="1207011" y="5744680"/>
            <a:ext cx="6300110" cy="307777"/>
          </a:xfrm>
          <a:prstGeom prst="rect">
            <a:avLst/>
          </a:prstGeom>
          <a:noFill/>
        </p:spPr>
        <p:txBody>
          <a:bodyPr wrap="square" rtlCol="0">
            <a:spAutoFit/>
          </a:bodyPr>
          <a:lstStyle/>
          <a:p>
            <a:r>
              <a:rPr lang="en-IN" sz="1400" dirty="0"/>
              <a:t>DA 231o Data Engineering at Scale (August 2025 Term)</a:t>
            </a:r>
          </a:p>
        </p:txBody>
      </p:sp>
    </p:spTree>
    <p:extLst>
      <p:ext uri="{BB962C8B-B14F-4D97-AF65-F5344CB8AC3E}">
        <p14:creationId xmlns:p14="http://schemas.microsoft.com/office/powerpoint/2010/main" val="204399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FF2AB-6851-5C75-9068-CEC7740A80A8}"/>
              </a:ext>
            </a:extLst>
          </p:cNvPr>
          <p:cNvSpPr>
            <a:spLocks noGrp="1"/>
          </p:cNvSpPr>
          <p:nvPr>
            <p:ph type="title"/>
          </p:nvPr>
        </p:nvSpPr>
        <p:spPr>
          <a:xfrm>
            <a:off x="1245108" y="786384"/>
            <a:ext cx="4023360" cy="1280160"/>
          </a:xfrm>
        </p:spPr>
        <p:txBody>
          <a:bodyPr anchor="t">
            <a:normAutofit/>
          </a:bodyPr>
          <a:lstStyle/>
          <a:p>
            <a:r>
              <a:rPr lang="en-US"/>
              <a:t>Project Overview</a:t>
            </a:r>
          </a:p>
        </p:txBody>
      </p:sp>
      <p:sp>
        <p:nvSpPr>
          <p:cNvPr id="3" name="Footer Placeholder 2">
            <a:extLst>
              <a:ext uri="{FF2B5EF4-FFF2-40B4-BE49-F238E27FC236}">
                <a16:creationId xmlns:a16="http://schemas.microsoft.com/office/drawing/2014/main" id="{72022D43-BA65-BC83-8453-89311FBFCFA4}"/>
              </a:ext>
            </a:extLst>
          </p:cNvPr>
          <p:cNvSpPr>
            <a:spLocks noGrp="1"/>
          </p:cNvSpPr>
          <p:nvPr>
            <p:ph type="ftr" sz="quarter" idx="11"/>
          </p:nvPr>
        </p:nvSpPr>
        <p:spPr>
          <a:xfrm rot="16200000">
            <a:off x="-1005840" y="1525384"/>
            <a:ext cx="2805405" cy="365125"/>
          </a:xfrm>
        </p:spPr>
        <p:txBody>
          <a:bodyPr anchor="ctr">
            <a:noAutofit/>
          </a:bodyPr>
          <a:lstStyle/>
          <a:p>
            <a:pPr>
              <a:spcAft>
                <a:spcPts val="600"/>
              </a:spcAft>
            </a:pPr>
            <a:r>
              <a:rPr lang="en-US" sz="2000" dirty="0"/>
              <a:t>INTRODUCTION</a:t>
            </a:r>
          </a:p>
        </p:txBody>
      </p:sp>
      <p:pic>
        <p:nvPicPr>
          <p:cNvPr id="7" name="Content Placeholder 6" descr="Screen shot of facial recognition software highlighting a young woman's face as she gives a presentation during a conference or seminar.">
            <a:extLst>
              <a:ext uri="{FF2B5EF4-FFF2-40B4-BE49-F238E27FC236}">
                <a16:creationId xmlns:a16="http://schemas.microsoft.com/office/drawing/2014/main" id="{9CD95F29-AD62-4B77-87DB-F2A9E855DAB3}"/>
              </a:ext>
            </a:extLst>
          </p:cNvPr>
          <p:cNvPicPr>
            <a:picLocks noGrp="1" noChangeAspect="1"/>
          </p:cNvPicPr>
          <p:nvPr>
            <p:ph type="pic" sz="quarter" idx="13"/>
          </p:nvPr>
        </p:nvPicPr>
        <p:blipFill>
          <a:blip r:embed="rId3"/>
          <a:srcRect l="14275" r="22778"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53E68414-7AC1-A442-02DB-7CADC36BB3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Project Objective</a:t>
            </a:r>
          </a:p>
          <a:p>
            <a:pPr marL="0" lvl="1" indent="0">
              <a:buFont typeface="Arial" panose="020B0604020202020204" pitchFamily="34" charset="0"/>
              <a:buNone/>
            </a:pPr>
            <a:r>
              <a:t>Design and implement a scalable music recommendation system using user data and audio features for personalization.</a:t>
            </a:r>
            <a:endParaRPr lang="en-US"/>
          </a:p>
          <a:p>
            <a:pPr marL="0" indent="0">
              <a:spcBef>
                <a:spcPts val="2500"/>
              </a:spcBef>
              <a:buFont typeface="Arial" panose="020B0604020202020204" pitchFamily="34" charset="0"/>
              <a:buNone/>
            </a:pPr>
            <a:r>
              <a:rPr lang="en-US" b="1"/>
              <a:t>Challenges Addressed</a:t>
            </a:r>
          </a:p>
          <a:p>
            <a:pPr marL="0" lvl="1" indent="0">
              <a:buFont typeface="Arial" panose="020B0604020202020204" pitchFamily="34" charset="0"/>
              <a:buNone/>
            </a:pPr>
            <a:r>
              <a:t>Tackles the problem of content overload on music platforms by providing tailored user experiences.</a:t>
            </a:r>
            <a:endParaRPr lang="en-US"/>
          </a:p>
          <a:p>
            <a:pPr marL="0" indent="0">
              <a:spcBef>
                <a:spcPts val="2500"/>
              </a:spcBef>
              <a:buFont typeface="Arial" panose="020B0604020202020204" pitchFamily="34" charset="0"/>
              <a:buNone/>
            </a:pPr>
            <a:r>
              <a:rPr lang="en-US" b="1"/>
              <a:t>Technologies Used</a:t>
            </a:r>
          </a:p>
          <a:p>
            <a:pPr marL="0" lvl="1" indent="0">
              <a:buFont typeface="Arial" panose="020B0604020202020204" pitchFamily="34" charset="0"/>
              <a:buNone/>
            </a:pPr>
            <a:r>
              <a:t>Implements big data technologies and machine learning techniques for robust and scalable solutions.</a:t>
            </a:r>
            <a:endParaRPr lang="en-US"/>
          </a:p>
          <a:p>
            <a:pPr marL="0" indent="0">
              <a:spcBef>
                <a:spcPts val="2500"/>
              </a:spcBef>
              <a:buFont typeface="Arial" panose="020B0604020202020204" pitchFamily="34" charset="0"/>
              <a:buNone/>
            </a:pPr>
            <a:r>
              <a:rPr lang="en-US" b="1"/>
              <a:t>Collaborative Effort</a:t>
            </a:r>
          </a:p>
          <a:p>
            <a:pPr marL="0" lvl="1" indent="0">
              <a:buFont typeface="Arial" panose="020B0604020202020204" pitchFamily="34" charset="0"/>
              <a:buNone/>
            </a:pPr>
            <a:r>
              <a:t>Project developed collaboratively by four authors focusing on comprehensive system design and evaluation.</a:t>
            </a:r>
            <a:endParaRPr lang="en-US"/>
          </a:p>
        </p:txBody>
      </p:sp>
      <p:sp>
        <p:nvSpPr>
          <p:cNvPr id="6" name="Slide Number Placeholder 5">
            <a:extLst>
              <a:ext uri="{FF2B5EF4-FFF2-40B4-BE49-F238E27FC236}">
                <a16:creationId xmlns:a16="http://schemas.microsoft.com/office/drawing/2014/main" id="{F2F5BC1F-A71B-0E70-7C8C-A066C7558E0B}"/>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4246128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6FC2-45CF-6290-4301-E5BCA0554E56}"/>
              </a:ext>
            </a:extLst>
          </p:cNvPr>
          <p:cNvSpPr>
            <a:spLocks noGrp="1"/>
          </p:cNvSpPr>
          <p:nvPr>
            <p:ph type="title"/>
          </p:nvPr>
        </p:nvSpPr>
        <p:spPr>
          <a:xfrm>
            <a:off x="1245108" y="786384"/>
            <a:ext cx="4023360" cy="1280160"/>
          </a:xfrm>
        </p:spPr>
        <p:txBody>
          <a:bodyPr anchor="t">
            <a:normAutofit/>
          </a:bodyPr>
          <a:lstStyle/>
          <a:p>
            <a:pPr>
              <a:lnSpc>
                <a:spcPct val="90000"/>
              </a:lnSpc>
            </a:pPr>
            <a:r>
              <a:rPr lang="en-US" sz="2700"/>
              <a:t>Challenges and Need for Personalization</a:t>
            </a:r>
          </a:p>
        </p:txBody>
      </p:sp>
      <p:sp>
        <p:nvSpPr>
          <p:cNvPr id="3" name="Footer Placeholder 2">
            <a:extLst>
              <a:ext uri="{FF2B5EF4-FFF2-40B4-BE49-F238E27FC236}">
                <a16:creationId xmlns:a16="http://schemas.microsoft.com/office/drawing/2014/main" id="{CAF184FA-CFD2-B715-0A43-3A4086843313}"/>
              </a:ext>
            </a:extLst>
          </p:cNvPr>
          <p:cNvSpPr>
            <a:spLocks noGrp="1"/>
          </p:cNvSpPr>
          <p:nvPr>
            <p:ph type="ftr" sz="quarter" idx="11"/>
          </p:nvPr>
        </p:nvSpPr>
        <p:spPr>
          <a:xfrm rot="16200000">
            <a:off x="-1933700" y="2453243"/>
            <a:ext cx="4756613" cy="460614"/>
          </a:xfrm>
        </p:spPr>
        <p:txBody>
          <a:bodyPr anchor="ctr">
            <a:noAutofit/>
          </a:bodyPr>
          <a:lstStyle/>
          <a:p>
            <a:pPr>
              <a:spcAft>
                <a:spcPts val="600"/>
              </a:spcAft>
            </a:pPr>
            <a:r>
              <a:rPr lang="en-US" sz="2000" dirty="0"/>
              <a:t>PROBLEM STATEMENT &amp; MOTIVATION</a:t>
            </a:r>
          </a:p>
        </p:txBody>
      </p:sp>
      <p:pic>
        <p:nvPicPr>
          <p:cNvPr id="7" name="Content Placeholder 6" descr="Internet of Things Concept">
            <a:extLst>
              <a:ext uri="{FF2B5EF4-FFF2-40B4-BE49-F238E27FC236}">
                <a16:creationId xmlns:a16="http://schemas.microsoft.com/office/drawing/2014/main" id="{A7BBC931-9909-42CB-9484-3EDE5B60DA9C}"/>
              </a:ext>
            </a:extLst>
          </p:cNvPr>
          <p:cNvPicPr>
            <a:picLocks noGrp="1" noChangeAspect="1"/>
          </p:cNvPicPr>
          <p:nvPr>
            <p:ph type="pic" sz="quarter" idx="13"/>
          </p:nvPr>
        </p:nvPicPr>
        <p:blipFill>
          <a:blip r:embed="rId3"/>
          <a:srcRect l="7985" r="17319"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9C587CC3-E8DD-B154-6E91-091968E89A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dirty="0"/>
              <a:t>User Discovery Challenges</a:t>
            </a:r>
          </a:p>
          <a:p>
            <a:pPr marL="0" lvl="1" indent="0">
              <a:buFont typeface="Arial" panose="020B0604020202020204" pitchFamily="34" charset="0"/>
              <a:buNone/>
            </a:pPr>
            <a:r>
              <a:rPr dirty="0"/>
              <a:t>Users struggle to find relevant music due to massive streaming libraries and limited recommendation scalability.</a:t>
            </a:r>
            <a:endParaRPr lang="en-US" dirty="0"/>
          </a:p>
          <a:p>
            <a:pPr marL="0" indent="0">
              <a:spcBef>
                <a:spcPts val="2500"/>
              </a:spcBef>
              <a:buFont typeface="Arial" panose="020B0604020202020204" pitchFamily="34" charset="0"/>
              <a:buNone/>
            </a:pPr>
            <a:r>
              <a:rPr lang="en-US" b="1" dirty="0"/>
              <a:t>Limitations of Traditional Systems</a:t>
            </a:r>
          </a:p>
          <a:p>
            <a:pPr marL="0" lvl="1" indent="0">
              <a:buFont typeface="Arial" panose="020B0604020202020204" pitchFamily="34" charset="0"/>
              <a:buNone/>
            </a:pPr>
            <a:r>
              <a:rPr dirty="0"/>
              <a:t>Conventional recommendation systems face issues with real-time performance and adapting to dynamic user behavior.</a:t>
            </a:r>
            <a:endParaRPr lang="en-US" dirty="0"/>
          </a:p>
          <a:p>
            <a:pPr marL="0" indent="0">
              <a:spcBef>
                <a:spcPts val="2500"/>
              </a:spcBef>
              <a:buFont typeface="Arial" panose="020B0604020202020204" pitchFamily="34" charset="0"/>
              <a:buNone/>
            </a:pPr>
            <a:r>
              <a:rPr lang="en-US" b="1" dirty="0"/>
              <a:t>Big Data and Personalization</a:t>
            </a:r>
          </a:p>
          <a:p>
            <a:pPr marL="0" lvl="1" indent="0">
              <a:buFont typeface="Arial" panose="020B0604020202020204" pitchFamily="34" charset="0"/>
              <a:buNone/>
            </a:pPr>
            <a:r>
              <a:rPr dirty="0"/>
              <a:t>Leveraging big data frameworks and machine learning enables efficient, low-latency personalized music recommendations.</a:t>
            </a:r>
            <a:endParaRPr lang="en-US" dirty="0"/>
          </a:p>
          <a:p>
            <a:pPr marL="0" indent="0">
              <a:spcBef>
                <a:spcPts val="2500"/>
              </a:spcBef>
              <a:buFont typeface="Arial" panose="020B0604020202020204" pitchFamily="34" charset="0"/>
              <a:buNone/>
            </a:pPr>
            <a:r>
              <a:rPr lang="en-US" b="1" dirty="0"/>
              <a:t>Goal for Enhanced Experience</a:t>
            </a:r>
          </a:p>
          <a:p>
            <a:pPr marL="0" lvl="1" indent="0">
              <a:buFont typeface="Arial" panose="020B0604020202020204" pitchFamily="34" charset="0"/>
              <a:buNone/>
            </a:pPr>
            <a:r>
              <a:rPr dirty="0"/>
              <a:t>Integrating real-time orchestration tools aims to improve user engagement through accurate, timely recommendations.</a:t>
            </a:r>
            <a:endParaRPr lang="en-US" dirty="0"/>
          </a:p>
        </p:txBody>
      </p:sp>
      <p:sp>
        <p:nvSpPr>
          <p:cNvPr id="6" name="Slide Number Placeholder 5">
            <a:extLst>
              <a:ext uri="{FF2B5EF4-FFF2-40B4-BE49-F238E27FC236}">
                <a16:creationId xmlns:a16="http://schemas.microsoft.com/office/drawing/2014/main" id="{BB3F3554-22C2-4255-220F-1F02A26B0ECC}"/>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16212259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79C4D-3728-4AEA-00E9-4E184237F99E}"/>
              </a:ext>
            </a:extLst>
          </p:cNvPr>
          <p:cNvSpPr>
            <a:spLocks noGrp="1"/>
          </p:cNvSpPr>
          <p:nvPr>
            <p:ph type="title"/>
          </p:nvPr>
        </p:nvSpPr>
        <p:spPr>
          <a:xfrm>
            <a:off x="1245108" y="786384"/>
            <a:ext cx="4023360" cy="1280160"/>
          </a:xfrm>
        </p:spPr>
        <p:txBody>
          <a:bodyPr anchor="t">
            <a:normAutofit/>
          </a:bodyPr>
          <a:lstStyle/>
          <a:p>
            <a:r>
              <a:rPr lang="en-US"/>
              <a:t>Objectives and Requirements</a:t>
            </a:r>
          </a:p>
        </p:txBody>
      </p:sp>
      <p:sp>
        <p:nvSpPr>
          <p:cNvPr id="3" name="Footer Placeholder 2">
            <a:extLst>
              <a:ext uri="{FF2B5EF4-FFF2-40B4-BE49-F238E27FC236}">
                <a16:creationId xmlns:a16="http://schemas.microsoft.com/office/drawing/2014/main" id="{B3C144FC-31E4-7656-D383-B3653505DF58}"/>
              </a:ext>
            </a:extLst>
          </p:cNvPr>
          <p:cNvSpPr>
            <a:spLocks noGrp="1"/>
          </p:cNvSpPr>
          <p:nvPr>
            <p:ph type="ftr" sz="quarter" idx="11"/>
          </p:nvPr>
        </p:nvSpPr>
        <p:spPr>
          <a:xfrm rot="16200000">
            <a:off x="-1005840" y="1525384"/>
            <a:ext cx="2805405" cy="365125"/>
          </a:xfrm>
        </p:spPr>
        <p:txBody>
          <a:bodyPr anchor="ctr">
            <a:noAutofit/>
          </a:bodyPr>
          <a:lstStyle/>
          <a:p>
            <a:pPr>
              <a:spcAft>
                <a:spcPts val="600"/>
              </a:spcAft>
            </a:pPr>
            <a:r>
              <a:rPr lang="en-US" sz="2000" dirty="0"/>
              <a:t>DESIGN GOALS</a:t>
            </a:r>
          </a:p>
        </p:txBody>
      </p:sp>
      <p:pic>
        <p:nvPicPr>
          <p:cNvPr id="7" name="Content Placeholder 6" descr="close up Artificial Intelligence technology brain for backgrounds">
            <a:extLst>
              <a:ext uri="{FF2B5EF4-FFF2-40B4-BE49-F238E27FC236}">
                <a16:creationId xmlns:a16="http://schemas.microsoft.com/office/drawing/2014/main" id="{13620B89-CC1D-47AC-AABF-90970BD2AEE8}"/>
              </a:ext>
            </a:extLst>
          </p:cNvPr>
          <p:cNvPicPr>
            <a:picLocks noGrp="1" noChangeAspect="1"/>
          </p:cNvPicPr>
          <p:nvPr>
            <p:ph type="pic" sz="quarter" idx="13"/>
          </p:nvPr>
        </p:nvPicPr>
        <p:blipFill>
          <a:blip r:embed="rId3"/>
          <a:srcRect l="12254" r="13051"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8D886C2A-B6EF-7EB3-DB83-95A6A36756D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Scalability</a:t>
            </a:r>
          </a:p>
          <a:p>
            <a:pPr marL="0" lvl="1" indent="0">
              <a:buFont typeface="Arial" panose="020B0604020202020204" pitchFamily="34" charset="0"/>
              <a:buNone/>
            </a:pPr>
            <a:r>
              <a:t>The system supports millions of user-song interactions without performance degradation.</a:t>
            </a:r>
            <a:endParaRPr lang="en-US"/>
          </a:p>
          <a:p>
            <a:pPr marL="0" indent="0">
              <a:spcBef>
                <a:spcPts val="2500"/>
              </a:spcBef>
              <a:buFont typeface="Arial" panose="020B0604020202020204" pitchFamily="34" charset="0"/>
              <a:buNone/>
            </a:pPr>
            <a:r>
              <a:rPr lang="en-US" b="1"/>
              <a:t>Performance</a:t>
            </a:r>
          </a:p>
          <a:p>
            <a:pPr marL="0" lvl="1" indent="0">
              <a:buFont typeface="Arial" panose="020B0604020202020204" pitchFamily="34" charset="0"/>
              <a:buNone/>
            </a:pPr>
            <a:r>
              <a:t>Low-latency recommendations provide a smooth and seamless user experience.</a:t>
            </a:r>
            <a:endParaRPr lang="en-US"/>
          </a:p>
          <a:p>
            <a:pPr marL="0" indent="0">
              <a:spcBef>
                <a:spcPts val="2500"/>
              </a:spcBef>
              <a:buFont typeface="Arial" panose="020B0604020202020204" pitchFamily="34" charset="0"/>
              <a:buNone/>
            </a:pPr>
            <a:r>
              <a:rPr lang="en-US" b="1"/>
              <a:t>Reliability</a:t>
            </a:r>
          </a:p>
          <a:p>
            <a:pPr marL="0" lvl="1" indent="0">
              <a:buFont typeface="Arial" panose="020B0604020202020204" pitchFamily="34" charset="0"/>
              <a:buNone/>
            </a:pPr>
            <a:r>
              <a:t>Automated orchestration with retry mechanisms ensures graceful failure handling.</a:t>
            </a:r>
            <a:endParaRPr lang="en-US"/>
          </a:p>
          <a:p>
            <a:pPr marL="0" indent="0">
              <a:spcBef>
                <a:spcPts val="2500"/>
              </a:spcBef>
              <a:buFont typeface="Arial" panose="020B0604020202020204" pitchFamily="34" charset="0"/>
              <a:buNone/>
            </a:pPr>
            <a:r>
              <a:rPr lang="en-US" b="1"/>
              <a:t>Flexibility</a:t>
            </a:r>
          </a:p>
          <a:p>
            <a:pPr marL="0" lvl="1" indent="0">
              <a:buFont typeface="Arial" panose="020B0604020202020204" pitchFamily="34" charset="0"/>
              <a:buNone/>
            </a:pPr>
            <a:r>
              <a:t>Easy deployment and integration with user interfaces for adaptable system use.</a:t>
            </a:r>
            <a:endParaRPr lang="en-US"/>
          </a:p>
        </p:txBody>
      </p:sp>
      <p:sp>
        <p:nvSpPr>
          <p:cNvPr id="6" name="Slide Number Placeholder 5">
            <a:extLst>
              <a:ext uri="{FF2B5EF4-FFF2-40B4-BE49-F238E27FC236}">
                <a16:creationId xmlns:a16="http://schemas.microsoft.com/office/drawing/2014/main" id="{5526ABEA-90E8-0071-AB86-90922150103C}"/>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3921803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54EDB-F44D-5148-A308-86574802C1EB}"/>
              </a:ext>
            </a:extLst>
          </p:cNvPr>
          <p:cNvSpPr>
            <a:spLocks noGrp="1"/>
          </p:cNvSpPr>
          <p:nvPr>
            <p:ph type="title"/>
          </p:nvPr>
        </p:nvSpPr>
        <p:spPr>
          <a:xfrm>
            <a:off x="1245108" y="786384"/>
            <a:ext cx="4046254" cy="1412530"/>
          </a:xfrm>
        </p:spPr>
        <p:txBody>
          <a:bodyPr anchor="t">
            <a:normAutofit fontScale="90000"/>
          </a:bodyPr>
          <a:lstStyle/>
          <a:p>
            <a:r>
              <a:rPr lang="en-US" dirty="0"/>
              <a:t>Dataset and Feature eNGINEERING</a:t>
            </a:r>
          </a:p>
        </p:txBody>
      </p:sp>
      <p:sp>
        <p:nvSpPr>
          <p:cNvPr id="3" name="Footer Placeholder 2">
            <a:extLst>
              <a:ext uri="{FF2B5EF4-FFF2-40B4-BE49-F238E27FC236}">
                <a16:creationId xmlns:a16="http://schemas.microsoft.com/office/drawing/2014/main" id="{F948BEC8-1E2E-CFF7-76AE-6F4E9366ECF1}"/>
              </a:ext>
            </a:extLst>
          </p:cNvPr>
          <p:cNvSpPr>
            <a:spLocks noGrp="1"/>
          </p:cNvSpPr>
          <p:nvPr>
            <p:ph type="ftr" sz="quarter" idx="11"/>
          </p:nvPr>
        </p:nvSpPr>
        <p:spPr>
          <a:xfrm rot="16200000">
            <a:off x="-1005840" y="1525384"/>
            <a:ext cx="2805405" cy="365125"/>
          </a:xfrm>
        </p:spPr>
        <p:txBody>
          <a:bodyPr anchor="ctr">
            <a:noAutofit/>
          </a:bodyPr>
          <a:lstStyle/>
          <a:p>
            <a:pPr>
              <a:spcAft>
                <a:spcPts val="600"/>
              </a:spcAft>
            </a:pPr>
            <a:r>
              <a:rPr lang="en-US" sz="2000" dirty="0"/>
              <a:t>DATA &amp; MODEL</a:t>
            </a:r>
          </a:p>
        </p:txBody>
      </p:sp>
      <p:pic>
        <p:nvPicPr>
          <p:cNvPr id="7" name="Content Placeholder 6" descr="Digital financial graph">
            <a:extLst>
              <a:ext uri="{FF2B5EF4-FFF2-40B4-BE49-F238E27FC236}">
                <a16:creationId xmlns:a16="http://schemas.microsoft.com/office/drawing/2014/main" id="{39713AF4-CB16-489B-83ED-55B5B52DB865}"/>
              </a:ext>
            </a:extLst>
          </p:cNvPr>
          <p:cNvPicPr>
            <a:picLocks noGrp="1" noChangeAspect="1"/>
          </p:cNvPicPr>
          <p:nvPr>
            <p:ph type="pic" sz="quarter" idx="13"/>
          </p:nvPr>
        </p:nvPicPr>
        <p:blipFill>
          <a:blip r:embed="rId3"/>
          <a:stretch/>
        </p:blipFill>
        <p:spPr>
          <a:xfrm>
            <a:off x="1220455" y="3070055"/>
            <a:ext cx="4070907" cy="2289886"/>
          </a:xfrm>
          <a:prstGeom prst="rect">
            <a:avLst/>
          </a:prstGeom>
          <a:noFill/>
        </p:spPr>
      </p:pic>
      <p:sp>
        <p:nvSpPr>
          <p:cNvPr id="5" name="Content Placeholder 4">
            <a:extLst>
              <a:ext uri="{FF2B5EF4-FFF2-40B4-BE49-F238E27FC236}">
                <a16:creationId xmlns:a16="http://schemas.microsoft.com/office/drawing/2014/main" id="{B5209AB5-E1CF-71BD-47DE-175658336C8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User-Song Interaction Data</a:t>
            </a:r>
          </a:p>
          <a:p>
            <a:pPr marL="0" lvl="1" indent="0">
              <a:buFont typeface="Arial" panose="020B0604020202020204" pitchFamily="34" charset="0"/>
              <a:buNone/>
            </a:pPr>
            <a:r>
              <a:t>Dataset includes user IDs, track IDs, and ratings detailing user-song interactions for personalized recommendations.</a:t>
            </a:r>
            <a:endParaRPr lang="en-US"/>
          </a:p>
          <a:p>
            <a:pPr marL="0" indent="0">
              <a:spcBef>
                <a:spcPts val="2500"/>
              </a:spcBef>
              <a:buFont typeface="Arial" panose="020B0604020202020204" pitchFamily="34" charset="0"/>
              <a:buNone/>
            </a:pPr>
            <a:r>
              <a:rPr lang="en-US" b="1"/>
              <a:t>Audio Feature Integration</a:t>
            </a:r>
          </a:p>
          <a:p>
            <a:pPr marL="0" lvl="1" indent="0">
              <a:buFont typeface="Arial" panose="020B0604020202020204" pitchFamily="34" charset="0"/>
              <a:buNone/>
            </a:pPr>
            <a:r>
              <a:t>Audio features such as tempo, energy, and danceability enhance recommendation accuracy and context awareness.</a:t>
            </a:r>
            <a:endParaRPr lang="en-US"/>
          </a:p>
          <a:p>
            <a:pPr marL="0" indent="0">
              <a:spcBef>
                <a:spcPts val="2500"/>
              </a:spcBef>
              <a:buFont typeface="Arial" panose="020B0604020202020204" pitchFamily="34" charset="0"/>
              <a:buNone/>
            </a:pPr>
            <a:r>
              <a:rPr lang="en-US" b="1"/>
              <a:t>Data Quality and Schema</a:t>
            </a:r>
          </a:p>
          <a:p>
            <a:pPr marL="0" lvl="1" indent="0">
              <a:buFont typeface="Arial" panose="020B0604020202020204" pitchFamily="34" charset="0"/>
              <a:buNone/>
            </a:pPr>
            <a:r>
              <a:t>An explicit Spark schema enforces type safety and maintains high data quality within the data pipeline.</a:t>
            </a:r>
            <a:endParaRPr lang="en-US"/>
          </a:p>
          <a:p>
            <a:pPr marL="0" indent="0">
              <a:spcBef>
                <a:spcPts val="2500"/>
              </a:spcBef>
              <a:buFont typeface="Arial" panose="020B0604020202020204" pitchFamily="34" charset="0"/>
              <a:buNone/>
            </a:pPr>
            <a:r>
              <a:rPr lang="en-US" b="1"/>
              <a:t>Model Training and Evaluation</a:t>
            </a:r>
          </a:p>
          <a:p>
            <a:pPr marL="0" lvl="1" indent="0">
              <a:buFont typeface="Arial" panose="020B0604020202020204" pitchFamily="34" charset="0"/>
              <a:buNone/>
            </a:pPr>
            <a:r>
              <a:t>Dataset is split 80/20 into training and testing sets to ensure robust evaluation of recommendation accuracy.</a:t>
            </a:r>
            <a:endParaRPr lang="en-US"/>
          </a:p>
        </p:txBody>
      </p:sp>
      <p:sp>
        <p:nvSpPr>
          <p:cNvPr id="6" name="Slide Number Placeholder 5">
            <a:extLst>
              <a:ext uri="{FF2B5EF4-FFF2-40B4-BE49-F238E27FC236}">
                <a16:creationId xmlns:a16="http://schemas.microsoft.com/office/drawing/2014/main" id="{2AFB5CC6-A01A-1891-9061-AD16FD9FE193}"/>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Tree>
    <p:extLst>
      <p:ext uri="{BB962C8B-B14F-4D97-AF65-F5344CB8AC3E}">
        <p14:creationId xmlns:p14="http://schemas.microsoft.com/office/powerpoint/2010/main" val="3816564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9F47-516D-0F2A-1C69-F51AC6C9740E}"/>
              </a:ext>
            </a:extLst>
          </p:cNvPr>
          <p:cNvSpPr>
            <a:spLocks noGrp="1"/>
          </p:cNvSpPr>
          <p:nvPr>
            <p:ph type="title"/>
          </p:nvPr>
        </p:nvSpPr>
        <p:spPr>
          <a:xfrm>
            <a:off x="1245108" y="786384"/>
            <a:ext cx="4023360" cy="1280160"/>
          </a:xfrm>
        </p:spPr>
        <p:txBody>
          <a:bodyPr anchor="t">
            <a:normAutofit/>
          </a:bodyPr>
          <a:lstStyle/>
          <a:p>
            <a:r>
              <a:rPr lang="en-US"/>
              <a:t>Pipeline and Algorithms</a:t>
            </a:r>
          </a:p>
        </p:txBody>
      </p:sp>
      <p:sp>
        <p:nvSpPr>
          <p:cNvPr id="3" name="Footer Placeholder 2">
            <a:extLst>
              <a:ext uri="{FF2B5EF4-FFF2-40B4-BE49-F238E27FC236}">
                <a16:creationId xmlns:a16="http://schemas.microsoft.com/office/drawing/2014/main" id="{F603B2D1-0CAB-AF48-5DEA-8D89B169903D}"/>
              </a:ext>
            </a:extLst>
          </p:cNvPr>
          <p:cNvSpPr>
            <a:spLocks noGrp="1"/>
          </p:cNvSpPr>
          <p:nvPr>
            <p:ph type="ftr" sz="quarter" idx="11"/>
          </p:nvPr>
        </p:nvSpPr>
        <p:spPr>
          <a:xfrm rot="16200000">
            <a:off x="-1157865" y="1691708"/>
            <a:ext cx="3123756" cy="350825"/>
          </a:xfrm>
        </p:spPr>
        <p:txBody>
          <a:bodyPr anchor="ctr">
            <a:noAutofit/>
          </a:bodyPr>
          <a:lstStyle/>
          <a:p>
            <a:pPr>
              <a:spcAft>
                <a:spcPts val="600"/>
              </a:spcAft>
            </a:pPr>
            <a:r>
              <a:rPr lang="en-US" sz="2000" dirty="0"/>
              <a:t>APPROACH &amp; METHODS</a:t>
            </a:r>
          </a:p>
        </p:txBody>
      </p:sp>
      <p:pic>
        <p:nvPicPr>
          <p:cNvPr id="7" name="Content Placeholder 6" descr="3d flow chart.">
            <a:extLst>
              <a:ext uri="{FF2B5EF4-FFF2-40B4-BE49-F238E27FC236}">
                <a16:creationId xmlns:a16="http://schemas.microsoft.com/office/drawing/2014/main" id="{A1381FB3-9D88-47BC-9D4E-F5B7C69E9229}"/>
              </a:ext>
            </a:extLst>
          </p:cNvPr>
          <p:cNvPicPr>
            <a:picLocks noGrp="1" noChangeAspect="1"/>
          </p:cNvPicPr>
          <p:nvPr>
            <p:ph type="pic" sz="quarter" idx="13"/>
          </p:nvPr>
        </p:nvPicPr>
        <p:blipFill>
          <a:blip r:embed="rId3"/>
          <a:stretch/>
        </p:blipFill>
        <p:spPr>
          <a:xfrm>
            <a:off x="1220455" y="3197272"/>
            <a:ext cx="4070907" cy="2035453"/>
          </a:xfrm>
          <a:prstGeom prst="rect">
            <a:avLst/>
          </a:prstGeom>
          <a:noFill/>
        </p:spPr>
      </p:pic>
      <p:sp>
        <p:nvSpPr>
          <p:cNvPr id="5" name="Content Placeholder 4">
            <a:extLst>
              <a:ext uri="{FF2B5EF4-FFF2-40B4-BE49-F238E27FC236}">
                <a16:creationId xmlns:a16="http://schemas.microsoft.com/office/drawing/2014/main" id="{100530D9-5A81-01DB-7EE1-D875E337664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Distributed ETL Pipeline</a:t>
            </a:r>
          </a:p>
          <a:p>
            <a:pPr marL="0" lvl="1" indent="0">
              <a:buFont typeface="Arial" panose="020B0604020202020204" pitchFamily="34" charset="0"/>
              <a:buNone/>
            </a:pPr>
            <a:r>
              <a:t>A distributed ETL pipeline processes raw user data, engineers features, and prepares data for model training effectively.</a:t>
            </a:r>
            <a:endParaRPr lang="en-US"/>
          </a:p>
          <a:p>
            <a:pPr marL="0" indent="0">
              <a:spcBef>
                <a:spcPts val="2500"/>
              </a:spcBef>
              <a:buFont typeface="Arial" panose="020B0604020202020204" pitchFamily="34" charset="0"/>
              <a:buNone/>
            </a:pPr>
            <a:r>
              <a:rPr lang="en-US" b="1"/>
              <a:t>ALS Collaborative Filtering</a:t>
            </a:r>
          </a:p>
          <a:p>
            <a:pPr marL="0" lvl="1" indent="0">
              <a:buFont typeface="Arial" panose="020B0604020202020204" pitchFamily="34" charset="0"/>
              <a:buNone/>
            </a:pPr>
            <a:r>
              <a:t>ALS algorithm is used for scalable recommendation with parameters Rank=20, Iterations=10, and Regularization=0.1.</a:t>
            </a:r>
            <a:endParaRPr lang="en-US"/>
          </a:p>
          <a:p>
            <a:pPr marL="0" indent="0">
              <a:spcBef>
                <a:spcPts val="2500"/>
              </a:spcBef>
              <a:buFont typeface="Arial" panose="020B0604020202020204" pitchFamily="34" charset="0"/>
              <a:buNone/>
            </a:pPr>
            <a:r>
              <a:rPr lang="en-US" b="1"/>
              <a:t>Cold Start and Constraints</a:t>
            </a:r>
          </a:p>
          <a:p>
            <a:pPr marL="0" lvl="1" indent="0">
              <a:buFont typeface="Arial" panose="020B0604020202020204" pitchFamily="34" charset="0"/>
              <a:buNone/>
            </a:pPr>
            <a:r>
              <a:t>Cold start issue addressed by drop strategy and non-negative constraints to improve recommendation quality.</a:t>
            </a:r>
            <a:endParaRPr lang="en-US"/>
          </a:p>
          <a:p>
            <a:pPr marL="0" indent="0">
              <a:spcBef>
                <a:spcPts val="2500"/>
              </a:spcBef>
              <a:buFont typeface="Arial" panose="020B0604020202020204" pitchFamily="34" charset="0"/>
              <a:buNone/>
            </a:pPr>
            <a:r>
              <a:rPr lang="en-US" b="1"/>
              <a:t>Orchestration and UI</a:t>
            </a:r>
          </a:p>
          <a:p>
            <a:pPr marL="0" lvl="1" indent="0">
              <a:buFont typeface="Arial" panose="020B0604020202020204" pitchFamily="34" charset="0"/>
              <a:buNone/>
            </a:pPr>
            <a:r>
              <a:t>Prefect orchestrates task automation and error handling; Streamlit UI provides responsive user recommendations.</a:t>
            </a:r>
            <a:endParaRPr lang="en-US"/>
          </a:p>
        </p:txBody>
      </p:sp>
      <p:sp>
        <p:nvSpPr>
          <p:cNvPr id="6" name="Slide Number Placeholder 5">
            <a:extLst>
              <a:ext uri="{FF2B5EF4-FFF2-40B4-BE49-F238E27FC236}">
                <a16:creationId xmlns:a16="http://schemas.microsoft.com/office/drawing/2014/main" id="{B2A4D66D-E9B5-E8A7-ECD8-E4EAC19AD012}"/>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3934475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2FB48-75F1-955D-FCA6-CA75E6D1B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8C6A0-1DCC-4F53-CB8F-25DA388ABDED}"/>
              </a:ext>
            </a:extLst>
          </p:cNvPr>
          <p:cNvSpPr>
            <a:spLocks noGrp="1"/>
          </p:cNvSpPr>
          <p:nvPr>
            <p:ph type="title"/>
          </p:nvPr>
        </p:nvSpPr>
        <p:spPr>
          <a:xfrm>
            <a:off x="1245108" y="786384"/>
            <a:ext cx="4023360" cy="1280160"/>
          </a:xfrm>
        </p:spPr>
        <p:txBody>
          <a:bodyPr anchor="t">
            <a:normAutofit/>
          </a:bodyPr>
          <a:lstStyle/>
          <a:p>
            <a:r>
              <a:rPr lang="en-US" dirty="0"/>
              <a:t>MODELS</a:t>
            </a:r>
          </a:p>
        </p:txBody>
      </p:sp>
      <p:sp>
        <p:nvSpPr>
          <p:cNvPr id="3" name="Footer Placeholder 2">
            <a:extLst>
              <a:ext uri="{FF2B5EF4-FFF2-40B4-BE49-F238E27FC236}">
                <a16:creationId xmlns:a16="http://schemas.microsoft.com/office/drawing/2014/main" id="{A025E276-8D9E-F093-8B07-488AFD51FEB8}"/>
              </a:ext>
            </a:extLst>
          </p:cNvPr>
          <p:cNvSpPr>
            <a:spLocks noGrp="1"/>
          </p:cNvSpPr>
          <p:nvPr>
            <p:ph type="ftr" sz="quarter" idx="11"/>
          </p:nvPr>
        </p:nvSpPr>
        <p:spPr>
          <a:xfrm rot="16200000">
            <a:off x="-1157865" y="1691708"/>
            <a:ext cx="3123756" cy="350825"/>
          </a:xfrm>
        </p:spPr>
        <p:txBody>
          <a:bodyPr anchor="ctr">
            <a:noAutofit/>
          </a:bodyPr>
          <a:lstStyle/>
          <a:p>
            <a:pPr>
              <a:spcAft>
                <a:spcPts val="600"/>
              </a:spcAft>
            </a:pPr>
            <a:r>
              <a:rPr lang="en-US" sz="2000" dirty="0"/>
              <a:t>APPROACH &amp; METHODS</a:t>
            </a:r>
          </a:p>
        </p:txBody>
      </p:sp>
      <p:sp>
        <p:nvSpPr>
          <p:cNvPr id="5" name="Content Placeholder 4">
            <a:extLst>
              <a:ext uri="{FF2B5EF4-FFF2-40B4-BE49-F238E27FC236}">
                <a16:creationId xmlns:a16="http://schemas.microsoft.com/office/drawing/2014/main" id="{79962FD2-F97B-9957-52E1-7C0C6DD643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dirty="0"/>
              <a:t>Baseline Model</a:t>
            </a:r>
          </a:p>
          <a:p>
            <a:r>
              <a:rPr lang="en-US" dirty="0"/>
              <a:t>Popularity-based recommender: Recommend the most frequently played or highest-rated tracks globally (or per segment), independent of the user.</a:t>
            </a:r>
          </a:p>
          <a:p>
            <a:r>
              <a:rPr lang="en-US" dirty="0"/>
              <a:t>Why use it: Simple, fast, and sets a clear baseline to compare against model-based approaches.</a:t>
            </a:r>
          </a:p>
          <a:p>
            <a:r>
              <a:rPr lang="en-US" dirty="0"/>
              <a:t>Limitations: No personalization; ignores user taste and item similarity; weak performance for diverse catalogs.</a:t>
            </a:r>
          </a:p>
          <a:p>
            <a:pPr marL="0" indent="0">
              <a:spcBef>
                <a:spcPts val="2500"/>
              </a:spcBef>
              <a:buFont typeface="Arial" panose="020B0604020202020204" pitchFamily="34" charset="0"/>
              <a:buNone/>
            </a:pPr>
            <a:endParaRPr lang="en-US" dirty="0"/>
          </a:p>
          <a:p>
            <a:pPr marL="0" indent="0">
              <a:buNone/>
            </a:pPr>
            <a:r>
              <a:rPr lang="en-US" dirty="0"/>
              <a:t>Collaborative Filtering with ALS:</a:t>
            </a:r>
          </a:p>
          <a:p>
            <a:r>
              <a:rPr lang="en-US" dirty="0"/>
              <a:t>Learns latent factors for users and items from interaction data.</a:t>
            </a:r>
          </a:p>
          <a:p>
            <a:r>
              <a:rPr lang="en-US" dirty="0"/>
              <a:t>Predicts scores via dot product of user and item embeddings.</a:t>
            </a:r>
          </a:p>
          <a:p>
            <a:r>
              <a:rPr lang="en-US" dirty="0"/>
              <a:t>Handles sparse data and scales well with Spark</a:t>
            </a:r>
          </a:p>
          <a:p>
            <a:pPr marL="0" indent="0">
              <a:spcBef>
                <a:spcPts val="2500"/>
              </a:spcBef>
              <a:buFont typeface="Arial" panose="020B0604020202020204" pitchFamily="34" charset="0"/>
              <a:buNone/>
            </a:pPr>
            <a:endParaRPr lang="en-US" dirty="0"/>
          </a:p>
        </p:txBody>
      </p:sp>
      <p:sp>
        <p:nvSpPr>
          <p:cNvPr id="6" name="Slide Number Placeholder 5">
            <a:extLst>
              <a:ext uri="{FF2B5EF4-FFF2-40B4-BE49-F238E27FC236}">
                <a16:creationId xmlns:a16="http://schemas.microsoft.com/office/drawing/2014/main" id="{2B1FB815-F041-2F73-4598-7D1DFCBC5CCE}"/>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pic>
        <p:nvPicPr>
          <p:cNvPr id="1028" name="Picture 4" descr="artificial intelligence silhouette vector icons isolated on white. cyber technologies icon set for web, mobile apps, ui design and print artificial intelligence silhouette vector icons isolated on white. cyber technologies icon set for web, mobile apps, ui design and print machine learning logo stock illustrations">
            <a:extLst>
              <a:ext uri="{FF2B5EF4-FFF2-40B4-BE49-F238E27FC236}">
                <a16:creationId xmlns:a16="http://schemas.microsoft.com/office/drawing/2014/main" id="{121AEC36-66BA-D85D-5AED-2FA824F20A46}"/>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t="5304" b="5304"/>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66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8DD0-376F-384E-A08D-BB06849380F2}"/>
              </a:ext>
            </a:extLst>
          </p:cNvPr>
          <p:cNvSpPr>
            <a:spLocks noGrp="1"/>
          </p:cNvSpPr>
          <p:nvPr>
            <p:ph type="title"/>
          </p:nvPr>
        </p:nvSpPr>
        <p:spPr>
          <a:xfrm>
            <a:off x="1245108" y="786384"/>
            <a:ext cx="4023360" cy="1280160"/>
          </a:xfrm>
        </p:spPr>
        <p:txBody>
          <a:bodyPr anchor="t">
            <a:normAutofit/>
          </a:bodyPr>
          <a:lstStyle/>
          <a:p>
            <a:r>
              <a:rPr lang="en-US"/>
              <a:t>Architecture and Components</a:t>
            </a:r>
          </a:p>
        </p:txBody>
      </p:sp>
      <p:sp>
        <p:nvSpPr>
          <p:cNvPr id="3" name="Footer Placeholder 2">
            <a:extLst>
              <a:ext uri="{FF2B5EF4-FFF2-40B4-BE49-F238E27FC236}">
                <a16:creationId xmlns:a16="http://schemas.microsoft.com/office/drawing/2014/main" id="{137E5D8F-E630-B8E7-5578-2C8A446BBBB9}"/>
              </a:ext>
            </a:extLst>
          </p:cNvPr>
          <p:cNvSpPr>
            <a:spLocks noGrp="1"/>
          </p:cNvSpPr>
          <p:nvPr>
            <p:ph type="ftr" sz="quarter" idx="11"/>
          </p:nvPr>
        </p:nvSpPr>
        <p:spPr>
          <a:xfrm rot="16200000">
            <a:off x="-1261280" y="1784237"/>
            <a:ext cx="3319699" cy="361711"/>
          </a:xfrm>
        </p:spPr>
        <p:txBody>
          <a:bodyPr anchor="ctr">
            <a:noAutofit/>
          </a:bodyPr>
          <a:lstStyle/>
          <a:p>
            <a:pPr>
              <a:spcAft>
                <a:spcPts val="600"/>
              </a:spcAft>
            </a:pPr>
            <a:r>
              <a:rPr lang="en-US" sz="2000" dirty="0"/>
              <a:t>SYSTEM ARCHITECTURE</a:t>
            </a:r>
          </a:p>
        </p:txBody>
      </p:sp>
      <p:pic>
        <p:nvPicPr>
          <p:cNvPr id="7" name="Content Placeholder 6" descr="Blockchain on technology background.Digital visualization of the token with lines and digital icons. The glowing lines of the included working servers, united in a single network.">
            <a:extLst>
              <a:ext uri="{FF2B5EF4-FFF2-40B4-BE49-F238E27FC236}">
                <a16:creationId xmlns:a16="http://schemas.microsoft.com/office/drawing/2014/main" id="{89104278-EEB8-4AD3-AD83-065579C8B196}"/>
              </a:ext>
            </a:extLst>
          </p:cNvPr>
          <p:cNvPicPr>
            <a:picLocks noGrp="1" noChangeAspect="1"/>
          </p:cNvPicPr>
          <p:nvPr>
            <p:ph type="pic" sz="quarter" idx="13"/>
          </p:nvPr>
        </p:nvPicPr>
        <p:blipFill>
          <a:blip r:embed="rId3"/>
          <a:srcRect l="28282" r="12688"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F5EAF80E-0CB4-65AE-0B90-65CE21BCB51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dirty="0"/>
              <a:t>Data Layer Optimization</a:t>
            </a:r>
          </a:p>
          <a:p>
            <a:pPr marL="0" lvl="1" indent="0">
              <a:buFont typeface="Arial" panose="020B0604020202020204" pitchFamily="34" charset="0"/>
              <a:buNone/>
            </a:pPr>
            <a:r>
              <a:rPr dirty="0"/>
              <a:t>Handles raw CSV files and converts them into Parquet format for efficient storage and querying.</a:t>
            </a:r>
            <a:endParaRPr lang="en-US" dirty="0"/>
          </a:p>
          <a:p>
            <a:pPr marL="0" indent="0">
              <a:spcBef>
                <a:spcPts val="2500"/>
              </a:spcBef>
              <a:buFont typeface="Arial" panose="020B0604020202020204" pitchFamily="34" charset="0"/>
              <a:buNone/>
            </a:pPr>
            <a:r>
              <a:rPr lang="en-US" b="1" dirty="0"/>
              <a:t>Processing with Apache Spark</a:t>
            </a:r>
          </a:p>
          <a:p>
            <a:pPr marL="0" lvl="1" indent="0">
              <a:buFont typeface="Arial" panose="020B0604020202020204" pitchFamily="34" charset="0"/>
              <a:buNone/>
            </a:pPr>
            <a:r>
              <a:rPr dirty="0"/>
              <a:t>Uses Apache Spark for distributed data transformations and feature engineering to prepare data for modeling.</a:t>
            </a:r>
            <a:endParaRPr lang="en-US" dirty="0"/>
          </a:p>
          <a:p>
            <a:pPr marL="0" indent="0">
              <a:spcBef>
                <a:spcPts val="2500"/>
              </a:spcBef>
              <a:buFont typeface="Arial" panose="020B0604020202020204" pitchFamily="34" charset="0"/>
              <a:buNone/>
            </a:pPr>
            <a:r>
              <a:rPr lang="en-US" b="1" dirty="0"/>
              <a:t>Collaborative Filtering Model</a:t>
            </a:r>
          </a:p>
          <a:p>
            <a:pPr marL="0" lvl="1" indent="0">
              <a:buFont typeface="Arial" panose="020B0604020202020204" pitchFamily="34" charset="0"/>
              <a:buNone/>
            </a:pPr>
            <a:r>
              <a:rPr dirty="0"/>
              <a:t>Implements ALS algorithm to generate personalized recommendations based on user data.</a:t>
            </a:r>
            <a:endParaRPr lang="en-US" dirty="0"/>
          </a:p>
          <a:p>
            <a:pPr marL="0" indent="0">
              <a:spcBef>
                <a:spcPts val="2500"/>
              </a:spcBef>
              <a:buFont typeface="Arial" panose="020B0604020202020204" pitchFamily="34" charset="0"/>
              <a:buNone/>
            </a:pPr>
            <a:r>
              <a:rPr lang="en-US" b="1" dirty="0"/>
              <a:t>Orchestration and Deployment</a:t>
            </a:r>
          </a:p>
          <a:p>
            <a:pPr marL="0" lvl="1" indent="0">
              <a:buFont typeface="Arial" panose="020B0604020202020204" pitchFamily="34" charset="0"/>
              <a:buNone/>
            </a:pPr>
            <a:r>
              <a:rPr dirty="0"/>
              <a:t>Prefect manages task scheduling and reliability; Docker enables containerization for portability.</a:t>
            </a:r>
            <a:endParaRPr lang="en-US" dirty="0"/>
          </a:p>
        </p:txBody>
      </p:sp>
      <p:sp>
        <p:nvSpPr>
          <p:cNvPr id="6" name="Slide Number Placeholder 5">
            <a:extLst>
              <a:ext uri="{FF2B5EF4-FFF2-40B4-BE49-F238E27FC236}">
                <a16:creationId xmlns:a16="http://schemas.microsoft.com/office/drawing/2014/main" id="{A9342E0F-69C3-6E58-C367-6DD1630B4095}"/>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358740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1D36D-CD6E-E846-E6D8-070B36E6304D}"/>
              </a:ext>
            </a:extLst>
          </p:cNvPr>
          <p:cNvSpPr>
            <a:spLocks noGrp="1"/>
          </p:cNvSpPr>
          <p:nvPr>
            <p:ph type="title"/>
          </p:nvPr>
        </p:nvSpPr>
        <p:spPr>
          <a:xfrm>
            <a:off x="1066800" y="640080"/>
            <a:ext cx="10058400" cy="731518"/>
          </a:xfrm>
        </p:spPr>
        <p:txBody>
          <a:bodyPr anchor="t">
            <a:normAutofit/>
          </a:bodyPr>
          <a:lstStyle/>
          <a:p>
            <a:r>
              <a:rPr lang="en-US"/>
              <a:t>Achievements and Impact</a:t>
            </a:r>
          </a:p>
        </p:txBody>
      </p:sp>
      <p:sp>
        <p:nvSpPr>
          <p:cNvPr id="3" name="Footer Placeholder 2">
            <a:extLst>
              <a:ext uri="{FF2B5EF4-FFF2-40B4-BE49-F238E27FC236}">
                <a16:creationId xmlns:a16="http://schemas.microsoft.com/office/drawing/2014/main" id="{A4C49976-8E64-43BB-79D6-2735E87A3F85}"/>
              </a:ext>
            </a:extLst>
          </p:cNvPr>
          <p:cNvSpPr>
            <a:spLocks noGrp="1"/>
          </p:cNvSpPr>
          <p:nvPr>
            <p:ph type="ftr" sz="quarter" idx="11"/>
          </p:nvPr>
        </p:nvSpPr>
        <p:spPr>
          <a:xfrm rot="16200000">
            <a:off x="-1005840" y="1525384"/>
            <a:ext cx="2805405" cy="365125"/>
          </a:xfrm>
        </p:spPr>
        <p:txBody>
          <a:bodyPr anchor="ctr">
            <a:noAutofit/>
          </a:bodyPr>
          <a:lstStyle/>
          <a:p>
            <a:pPr>
              <a:spcAft>
                <a:spcPts val="600"/>
              </a:spcAft>
            </a:pPr>
            <a:r>
              <a:rPr lang="en-US" sz="2000" dirty="0"/>
              <a:t>KEY OUTCOMES</a:t>
            </a:r>
          </a:p>
        </p:txBody>
      </p:sp>
      <p:sp>
        <p:nvSpPr>
          <p:cNvPr id="5" name="Slide Number Placeholder 4">
            <a:extLst>
              <a:ext uri="{FF2B5EF4-FFF2-40B4-BE49-F238E27FC236}">
                <a16:creationId xmlns:a16="http://schemas.microsoft.com/office/drawing/2014/main" id="{DE2B48A0-17E5-DA4E-C9F2-6C4A6B23C4A0}"/>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graphicFrame>
        <p:nvGraphicFramePr>
          <p:cNvPr id="7" name="Content Placeholder 6">
            <a:extLst>
              <a:ext uri="{FF2B5EF4-FFF2-40B4-BE49-F238E27FC236}">
                <a16:creationId xmlns:a16="http://schemas.microsoft.com/office/drawing/2014/main" id="{7A14704F-12DF-4EB1-9970-A12F06402621}"/>
              </a:ext>
            </a:extLst>
          </p:cNvPr>
          <p:cNvGraphicFramePr>
            <a:graphicFrameLocks noGrp="1"/>
          </p:cNvGraphicFramePr>
          <p:nvPr>
            <p:ph idx="1"/>
          </p:nvPr>
        </p:nvGraphicFramePr>
        <p:xfrm>
          <a:off x="1066800" y="1633019"/>
          <a:ext cx="10058401" cy="4049166"/>
        </p:xfrm>
        <a:graphic>
          <a:graphicData uri="http://schemas.openxmlformats.org/drawingml/2006/table">
            <a:tbl>
              <a:tblPr firstRow="1" bandRow="1">
                <a:noFill/>
                <a:tableStyleId>{5C22544A-7EE6-4342-B048-85BDC9FD1C3A}</a:tableStyleId>
              </a:tblPr>
              <a:tblGrid>
                <a:gridCol w="4071494">
                  <a:extLst>
                    <a:ext uri="{9D8B030D-6E8A-4147-A177-3AD203B41FA5}">
                      <a16:colId xmlns:a16="http://schemas.microsoft.com/office/drawing/2014/main" val="1175739570"/>
                    </a:ext>
                  </a:extLst>
                </a:gridCol>
                <a:gridCol w="5986907">
                  <a:extLst>
                    <a:ext uri="{9D8B030D-6E8A-4147-A177-3AD203B41FA5}">
                      <a16:colId xmlns:a16="http://schemas.microsoft.com/office/drawing/2014/main" val="3591466791"/>
                    </a:ext>
                  </a:extLst>
                </a:gridCol>
              </a:tblGrid>
              <a:tr h="866998">
                <a:tc>
                  <a:txBody>
                    <a:bodyPr/>
                    <a:lstStyle/>
                    <a:p>
                      <a:pPr>
                        <a:buNone/>
                      </a:pPr>
                      <a:r>
                        <a:rPr lang="en-US" sz="2500" b="1" cap="all" spc="150" dirty="0">
                          <a:solidFill>
                            <a:schemeClr val="tx1"/>
                          </a:solidFill>
                        </a:rPr>
                        <a:t>Goal</a:t>
                      </a:r>
                    </a:p>
                  </a:txBody>
                  <a:tcPr marL="214367" marR="214367" marT="214367" marB="214367"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500" b="1" cap="all" spc="150">
                          <a:solidFill>
                            <a:schemeClr val="tx1"/>
                          </a:solidFill>
                        </a:rPr>
                        <a:t>Achievement</a:t>
                      </a:r>
                    </a:p>
                  </a:txBody>
                  <a:tcPr marL="214367" marR="214367" marT="214367" marB="214367"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996101331"/>
                  </a:ext>
                </a:extLst>
              </a:tr>
              <a:tr h="795542">
                <a:tc>
                  <a:txBody>
                    <a:bodyPr/>
                    <a:lstStyle/>
                    <a:p>
                      <a:pPr>
                        <a:buNone/>
                      </a:pPr>
                      <a:r>
                        <a:rPr lang="en-US" sz="2000" b="1" cap="none" spc="0" dirty="0">
                          <a:solidFill>
                            <a:schemeClr val="tx1"/>
                          </a:solidFill>
                        </a:rPr>
                        <a:t>Handle large datasets</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Distributed Spark ETL with Parquet storage</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677171191"/>
                  </a:ext>
                </a:extLst>
              </a:tr>
              <a:tr h="795542">
                <a:tc>
                  <a:txBody>
                    <a:bodyPr/>
                    <a:lstStyle/>
                    <a:p>
                      <a:pPr>
                        <a:buNone/>
                      </a:pPr>
                      <a:r>
                        <a:rPr lang="en-US" sz="2000" b="1" cap="none" spc="0" dirty="0">
                          <a:solidFill>
                            <a:schemeClr val="tx1"/>
                          </a:solidFill>
                        </a:rPr>
                        <a:t>Real-time recommendations</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a:solidFill>
                            <a:schemeClr val="tx1"/>
                          </a:solidFill>
                        </a:rPr>
                        <a:t>Streamlit UI with on-demand prediction</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438742834"/>
                  </a:ext>
                </a:extLst>
              </a:tr>
              <a:tr h="795542">
                <a:tc>
                  <a:txBody>
                    <a:bodyPr/>
                    <a:lstStyle/>
                    <a:p>
                      <a:pPr>
                        <a:buNone/>
                      </a:pPr>
                      <a:r>
                        <a:rPr lang="en-US" sz="2000" b="1" cap="none" spc="0">
                          <a:solidFill>
                            <a:schemeClr val="tx1"/>
                          </a:solidFill>
                        </a:rPr>
                        <a:t>Fault tolerance</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000" cap="none" spc="0" dirty="0">
                          <a:solidFill>
                            <a:schemeClr val="tx1"/>
                          </a:solidFill>
                        </a:rPr>
                        <a:t>Prefect orchestration with retry logic</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50680771"/>
                  </a:ext>
                </a:extLst>
              </a:tr>
              <a:tr h="795542">
                <a:tc>
                  <a:txBody>
                    <a:bodyPr/>
                    <a:lstStyle/>
                    <a:p>
                      <a:pPr>
                        <a:buNone/>
                      </a:pPr>
                      <a:r>
                        <a:rPr lang="en-US" sz="2000" b="1" cap="none" spc="0">
                          <a:solidFill>
                            <a:schemeClr val="tx1"/>
                          </a:solidFill>
                        </a:rPr>
                        <a:t>Efficient storage</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2000" cap="none" spc="0" dirty="0">
                          <a:solidFill>
                            <a:schemeClr val="tx1"/>
                          </a:solidFill>
                        </a:rPr>
                        <a:t>Columnar Parquet format for optimized queries</a:t>
                      </a:r>
                    </a:p>
                  </a:txBody>
                  <a:tcPr marL="214367" marR="214367" marT="214367" marB="214367"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2054341479"/>
                  </a:ext>
                </a:extLst>
              </a:tr>
            </a:tbl>
          </a:graphicData>
        </a:graphic>
      </p:graphicFrame>
    </p:spTree>
    <p:extLst>
      <p:ext uri="{BB962C8B-B14F-4D97-AF65-F5344CB8AC3E}">
        <p14:creationId xmlns:p14="http://schemas.microsoft.com/office/powerpoint/2010/main" val="157989588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8C1C-0B16-1825-19FC-D5608FF0F898}"/>
              </a:ext>
            </a:extLst>
          </p:cNvPr>
          <p:cNvSpPr>
            <a:spLocks noGrp="1"/>
          </p:cNvSpPr>
          <p:nvPr>
            <p:ph type="title"/>
          </p:nvPr>
        </p:nvSpPr>
        <p:spPr>
          <a:xfrm>
            <a:off x="1245108" y="786384"/>
            <a:ext cx="4023360" cy="1280160"/>
          </a:xfrm>
        </p:spPr>
        <p:txBody>
          <a:bodyPr anchor="t">
            <a:normAutofit/>
          </a:bodyPr>
          <a:lstStyle/>
          <a:p>
            <a:r>
              <a:rPr lang="en-US"/>
              <a:t>Metrics and Analysis</a:t>
            </a:r>
          </a:p>
        </p:txBody>
      </p:sp>
      <p:sp>
        <p:nvSpPr>
          <p:cNvPr id="3" name="Footer Placeholder 2">
            <a:extLst>
              <a:ext uri="{FF2B5EF4-FFF2-40B4-BE49-F238E27FC236}">
                <a16:creationId xmlns:a16="http://schemas.microsoft.com/office/drawing/2014/main" id="{C598D646-5880-1AE4-B6AF-22FC8BBEFF6D}"/>
              </a:ext>
            </a:extLst>
          </p:cNvPr>
          <p:cNvSpPr>
            <a:spLocks noGrp="1"/>
          </p:cNvSpPr>
          <p:nvPr>
            <p:ph type="ftr" sz="quarter" idx="11"/>
          </p:nvPr>
        </p:nvSpPr>
        <p:spPr>
          <a:xfrm rot="16200000">
            <a:off x="-1005840" y="1525384"/>
            <a:ext cx="2805405" cy="365125"/>
          </a:xfrm>
        </p:spPr>
        <p:txBody>
          <a:bodyPr anchor="ctr">
            <a:noAutofit/>
          </a:bodyPr>
          <a:lstStyle/>
          <a:p>
            <a:pPr>
              <a:spcAft>
                <a:spcPts val="600"/>
              </a:spcAft>
            </a:pPr>
            <a:r>
              <a:rPr lang="en-US" sz="2000" dirty="0"/>
              <a:t>EVALUATION</a:t>
            </a:r>
          </a:p>
        </p:txBody>
      </p:sp>
      <p:pic>
        <p:nvPicPr>
          <p:cNvPr id="7" name="Content Placeholder 6" descr="Credit score report">
            <a:extLst>
              <a:ext uri="{FF2B5EF4-FFF2-40B4-BE49-F238E27FC236}">
                <a16:creationId xmlns:a16="http://schemas.microsoft.com/office/drawing/2014/main" id="{41AC92AC-B518-4503-8F94-60D643C1D850}"/>
              </a:ext>
            </a:extLst>
          </p:cNvPr>
          <p:cNvPicPr>
            <a:picLocks noGrp="1" noChangeAspect="1"/>
          </p:cNvPicPr>
          <p:nvPr>
            <p:ph type="pic" sz="quarter" idx="13"/>
          </p:nvPr>
        </p:nvPicPr>
        <p:blipFill>
          <a:blip r:embed="rId3"/>
          <a:srcRect t="10639" r="-3" b="-3"/>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EF256606-D53A-E674-7B31-1ABAF7143C4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dirty="0"/>
              <a:t>Error Metrics Overview</a:t>
            </a:r>
          </a:p>
          <a:p>
            <a:pPr marL="0" lvl="1" indent="0">
              <a:buFont typeface="Arial" panose="020B0604020202020204" pitchFamily="34" charset="0"/>
              <a:buNone/>
            </a:pPr>
            <a:r>
              <a:rPr dirty="0"/>
              <a:t>The model's accuracy was evaluated using RMSE and MAE, achieving values of 0.85 and 0.65 respectively.</a:t>
            </a:r>
            <a:endParaRPr lang="en-US" dirty="0"/>
          </a:p>
          <a:p>
            <a:pPr marL="0" indent="0">
              <a:spcBef>
                <a:spcPts val="2500"/>
              </a:spcBef>
              <a:buFont typeface="Arial" panose="020B0604020202020204" pitchFamily="34" charset="0"/>
              <a:buNone/>
            </a:pPr>
            <a:r>
              <a:rPr lang="en-US" b="1" dirty="0"/>
              <a:t>Experiment Design</a:t>
            </a:r>
          </a:p>
          <a:p>
            <a:pPr marL="0" lvl="1" indent="0">
              <a:buFont typeface="Arial" panose="020B0604020202020204" pitchFamily="34" charset="0"/>
              <a:buNone/>
            </a:pPr>
            <a:r>
              <a:rPr dirty="0"/>
              <a:t>An 80/20 train-test data split was used to validate the model's performance and scalability.</a:t>
            </a:r>
            <a:endParaRPr lang="en-US" dirty="0"/>
          </a:p>
          <a:p>
            <a:pPr marL="0" indent="0">
              <a:spcBef>
                <a:spcPts val="2500"/>
              </a:spcBef>
              <a:buFont typeface="Arial" panose="020B0604020202020204" pitchFamily="34" charset="0"/>
              <a:buNone/>
            </a:pPr>
            <a:r>
              <a:rPr lang="en-US" b="1" dirty="0"/>
              <a:t>Scalability Analysis</a:t>
            </a:r>
          </a:p>
          <a:p>
            <a:pPr marL="0" lvl="1" indent="0">
              <a:buFont typeface="Arial" panose="020B0604020202020204" pitchFamily="34" charset="0"/>
              <a:buNone/>
            </a:pPr>
            <a:r>
              <a:rPr dirty="0"/>
              <a:t>Scalability was analyzed through Spark shuffle partitions and execution times for ETL and training phases.</a:t>
            </a:r>
            <a:endParaRPr lang="en-US" dirty="0"/>
          </a:p>
          <a:p>
            <a:pPr marL="0" indent="0">
              <a:spcBef>
                <a:spcPts val="2500"/>
              </a:spcBef>
              <a:buFont typeface="Arial" panose="020B0604020202020204" pitchFamily="34" charset="0"/>
              <a:buNone/>
            </a:pPr>
            <a:r>
              <a:rPr lang="en-US" b="1" dirty="0"/>
              <a:t>Performance Visualizations</a:t>
            </a:r>
          </a:p>
          <a:p>
            <a:pPr marL="0" lvl="1" indent="0">
              <a:buFont typeface="Arial" panose="020B0604020202020204" pitchFamily="34" charset="0"/>
              <a:buNone/>
            </a:pPr>
            <a:r>
              <a:rPr dirty="0"/>
              <a:t>Visual tools like RMSE vs iterations, rating histograms, and Top-K accuracy plots provided insights on model and user behavior.</a:t>
            </a:r>
            <a:endParaRPr lang="en-US" dirty="0"/>
          </a:p>
        </p:txBody>
      </p:sp>
      <p:sp>
        <p:nvSpPr>
          <p:cNvPr id="6" name="Slide Number Placeholder 5">
            <a:extLst>
              <a:ext uri="{FF2B5EF4-FFF2-40B4-BE49-F238E27FC236}">
                <a16:creationId xmlns:a16="http://schemas.microsoft.com/office/drawing/2014/main" id="{33A68843-D778-A567-DDB9-D72AE1DDF866}"/>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475289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DF732-D9D3-02FB-B7CA-10F8B44E4607}"/>
              </a:ext>
            </a:extLst>
          </p:cNvPr>
          <p:cNvSpPr>
            <a:spLocks noGrp="1"/>
          </p:cNvSpPr>
          <p:nvPr>
            <p:ph type="title"/>
          </p:nvPr>
        </p:nvSpPr>
        <p:spPr>
          <a:xfrm>
            <a:off x="7680960" y="786385"/>
            <a:ext cx="3291840" cy="1499615"/>
          </a:xfrm>
        </p:spPr>
        <p:txBody>
          <a:bodyPr anchor="b">
            <a:normAutofit/>
          </a:bodyPr>
          <a:lstStyle/>
          <a:p>
            <a:r>
              <a:rPr lang="en-US"/>
              <a:t>Challenges Addressed</a:t>
            </a:r>
          </a:p>
        </p:txBody>
      </p:sp>
      <p:sp>
        <p:nvSpPr>
          <p:cNvPr id="3" name="Footer Placeholder 2">
            <a:extLst>
              <a:ext uri="{FF2B5EF4-FFF2-40B4-BE49-F238E27FC236}">
                <a16:creationId xmlns:a16="http://schemas.microsoft.com/office/drawing/2014/main" id="{F0ACBE20-9DC9-85DE-5F1E-B19DD52889AC}"/>
              </a:ext>
            </a:extLst>
          </p:cNvPr>
          <p:cNvSpPr>
            <a:spLocks noGrp="1"/>
          </p:cNvSpPr>
          <p:nvPr>
            <p:ph type="ftr" sz="quarter" idx="16"/>
          </p:nvPr>
        </p:nvSpPr>
        <p:spPr>
          <a:xfrm rot="16200000">
            <a:off x="-1005840" y="1525384"/>
            <a:ext cx="2805405" cy="365125"/>
          </a:xfrm>
        </p:spPr>
        <p:txBody>
          <a:bodyPr anchor="ctr">
            <a:noAutofit/>
          </a:bodyPr>
          <a:lstStyle/>
          <a:p>
            <a:pPr>
              <a:spcAft>
                <a:spcPts val="600"/>
              </a:spcAft>
            </a:pPr>
            <a:r>
              <a:rPr lang="en-US" sz="2000" dirty="0"/>
              <a:t>CHALLENGES</a:t>
            </a:r>
          </a:p>
        </p:txBody>
      </p:sp>
      <p:pic>
        <p:nvPicPr>
          <p:cNvPr id="7" name="Content Placeholder 6" descr="Storage database and gears on white background">
            <a:extLst>
              <a:ext uri="{FF2B5EF4-FFF2-40B4-BE49-F238E27FC236}">
                <a16:creationId xmlns:a16="http://schemas.microsoft.com/office/drawing/2014/main" id="{D09BD35D-D715-4119-AB5A-8B5306CEA810}"/>
              </a:ext>
            </a:extLst>
          </p:cNvPr>
          <p:cNvPicPr>
            <a:picLocks noGrp="1" noChangeAspect="1"/>
          </p:cNvPicPr>
          <p:nvPr>
            <p:ph type="pic" sz="quarter" idx="13"/>
          </p:nvPr>
        </p:nvPicPr>
        <p:blipFill>
          <a:blip r:embed="rId3"/>
          <a:srcRect l="5288" r="5972"/>
          <a:stretch>
            <a:fillRect/>
          </a:stretch>
        </p:blipFill>
        <p:spPr>
          <a:xfrm>
            <a:off x="827313" y="400050"/>
            <a:ext cx="6429535" cy="6031712"/>
          </a:xfrm>
          <a:prstGeom prst="rect">
            <a:avLst/>
          </a:prstGeom>
          <a:noFill/>
        </p:spPr>
      </p:pic>
      <p:sp>
        <p:nvSpPr>
          <p:cNvPr id="5" name="Content Placeholder 4">
            <a:extLst>
              <a:ext uri="{FF2B5EF4-FFF2-40B4-BE49-F238E27FC236}">
                <a16:creationId xmlns:a16="http://schemas.microsoft.com/office/drawing/2014/main" id="{27BF6D30-170F-2606-CED0-E5800D0946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0" y="2468880"/>
            <a:ext cx="3291840" cy="3549735"/>
          </a:xfrm>
        </p:spPr>
        <p:txBody>
          <a:bodyPr>
            <a:normAutofit/>
          </a:bodyPr>
          <a:lstStyle/>
          <a:p>
            <a:pPr marL="0" indent="0">
              <a:spcBef>
                <a:spcPts val="2500"/>
              </a:spcBef>
              <a:buFont typeface="Arial" panose="020B0604020202020204" pitchFamily="34" charset="0"/>
              <a:buNone/>
            </a:pPr>
            <a:r>
              <a:rPr lang="en-US" sz="1300" b="1"/>
              <a:t>Data Quality Assurance</a:t>
            </a:r>
          </a:p>
          <a:p>
            <a:pPr marL="0" lvl="1" indent="0">
              <a:buFont typeface="Arial" panose="020B0604020202020204" pitchFamily="34" charset="0"/>
              <a:buNone/>
            </a:pPr>
            <a:r>
              <a:rPr lang="en-US" sz="1300"/>
              <a:t>Data quality issues were resolved using schema validation and null value handling techniques.</a:t>
            </a:r>
          </a:p>
          <a:p>
            <a:pPr marL="0" indent="0">
              <a:spcBef>
                <a:spcPts val="2500"/>
              </a:spcBef>
              <a:buFont typeface="Arial" panose="020B0604020202020204" pitchFamily="34" charset="0"/>
              <a:buNone/>
            </a:pPr>
            <a:r>
              <a:rPr lang="en-US" sz="1300" b="1"/>
              <a:t>Cold Start Problem Solution</a:t>
            </a:r>
          </a:p>
          <a:p>
            <a:pPr marL="0" lvl="1" indent="0">
              <a:buFont typeface="Arial" panose="020B0604020202020204" pitchFamily="34" charset="0"/>
              <a:buNone/>
            </a:pPr>
            <a:r>
              <a:rPr lang="en-US" sz="1300"/>
              <a:t>The cold start problem was addressed by configuring ALS with non-negative constraints and applying a drop strategy.</a:t>
            </a:r>
          </a:p>
          <a:p>
            <a:pPr marL="0" indent="0">
              <a:spcBef>
                <a:spcPts val="2500"/>
              </a:spcBef>
              <a:buFont typeface="Arial" panose="020B0604020202020204" pitchFamily="34" charset="0"/>
              <a:buNone/>
            </a:pPr>
            <a:r>
              <a:rPr lang="en-US" sz="1300" b="1"/>
              <a:t>Pipeline Reliability</a:t>
            </a:r>
          </a:p>
          <a:p>
            <a:pPr marL="0" lvl="1" indent="0">
              <a:buFont typeface="Arial" panose="020B0604020202020204" pitchFamily="34" charset="0"/>
              <a:buNone/>
            </a:pPr>
            <a:r>
              <a:rPr lang="en-US" sz="1300"/>
              <a:t>Pipeline reliability was ensured through automated error handling and dependency management using Prefect.</a:t>
            </a:r>
          </a:p>
        </p:txBody>
      </p:sp>
      <p:sp>
        <p:nvSpPr>
          <p:cNvPr id="6" name="Slide Number Placeholder 5">
            <a:extLst>
              <a:ext uri="{FF2B5EF4-FFF2-40B4-BE49-F238E27FC236}">
                <a16:creationId xmlns:a16="http://schemas.microsoft.com/office/drawing/2014/main" id="{46965DDE-EC23-865E-B942-BEB8979CDB1C}"/>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Tree>
    <p:extLst>
      <p:ext uri="{BB962C8B-B14F-4D97-AF65-F5344CB8AC3E}">
        <p14:creationId xmlns:p14="http://schemas.microsoft.com/office/powerpoint/2010/main" val="2070714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1E7D-ED26-4ABC-3053-F70EB2C75D57}"/>
              </a:ext>
            </a:extLst>
          </p:cNvPr>
          <p:cNvSpPr>
            <a:spLocks noGrp="1"/>
          </p:cNvSpPr>
          <p:nvPr>
            <p:ph type="title"/>
          </p:nvPr>
        </p:nvSpPr>
        <p:spPr>
          <a:xfrm>
            <a:off x="1245108" y="786384"/>
            <a:ext cx="4023360" cy="1280160"/>
          </a:xfrm>
        </p:spPr>
        <p:txBody>
          <a:bodyPr anchor="t">
            <a:normAutofit/>
          </a:bodyPr>
          <a:lstStyle/>
          <a:p>
            <a:r>
              <a:rPr lang="en-US"/>
              <a:t>Future Extensions</a:t>
            </a:r>
          </a:p>
        </p:txBody>
      </p:sp>
      <p:sp>
        <p:nvSpPr>
          <p:cNvPr id="3" name="Footer Placeholder 2">
            <a:extLst>
              <a:ext uri="{FF2B5EF4-FFF2-40B4-BE49-F238E27FC236}">
                <a16:creationId xmlns:a16="http://schemas.microsoft.com/office/drawing/2014/main" id="{B68FA8B8-AAF8-811C-DF72-E06A7C336A0B}"/>
              </a:ext>
            </a:extLst>
          </p:cNvPr>
          <p:cNvSpPr>
            <a:spLocks noGrp="1"/>
          </p:cNvSpPr>
          <p:nvPr>
            <p:ph type="ftr" sz="quarter" idx="11"/>
          </p:nvPr>
        </p:nvSpPr>
        <p:spPr>
          <a:xfrm rot="16200000">
            <a:off x="-1005840" y="1525384"/>
            <a:ext cx="2805405" cy="365125"/>
          </a:xfrm>
        </p:spPr>
        <p:txBody>
          <a:bodyPr anchor="ctr">
            <a:noAutofit/>
          </a:bodyPr>
          <a:lstStyle/>
          <a:p>
            <a:pPr>
              <a:spcAft>
                <a:spcPts val="600"/>
              </a:spcAft>
            </a:pPr>
            <a:r>
              <a:rPr lang="en-US" sz="2000" dirty="0"/>
              <a:t>FUTURE EXTENSIONS</a:t>
            </a:r>
          </a:p>
        </p:txBody>
      </p:sp>
      <p:pic>
        <p:nvPicPr>
          <p:cNvPr id="7" name="Content Placeholder 6" descr="Blockchain, Data, Internet, Security System, Computer Network">
            <a:extLst>
              <a:ext uri="{FF2B5EF4-FFF2-40B4-BE49-F238E27FC236}">
                <a16:creationId xmlns:a16="http://schemas.microsoft.com/office/drawing/2014/main" id="{4C467EEE-C2ED-4556-A571-2B0F4AFFAB8C}"/>
              </a:ext>
            </a:extLst>
          </p:cNvPr>
          <p:cNvPicPr>
            <a:picLocks noGrp="1" noChangeAspect="1"/>
          </p:cNvPicPr>
          <p:nvPr>
            <p:ph type="pic" sz="quarter" idx="13"/>
          </p:nvPr>
        </p:nvPicPr>
        <p:blipFill>
          <a:blip r:embed="rId3"/>
          <a:srcRect l="30133" r="6920"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5AA87DB8-90BC-FDF0-E369-9EB7CFAF4B0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dirty="0"/>
              <a:t>Hybrid Recommendation Models</a:t>
            </a:r>
          </a:p>
          <a:p>
            <a:pPr marL="0" lvl="1" indent="0">
              <a:buFont typeface="Arial" panose="020B0604020202020204" pitchFamily="34" charset="0"/>
              <a:buNone/>
            </a:pPr>
            <a:r>
              <a:rPr dirty="0"/>
              <a:t>Combining collaborative filtering with content-based and deep learning models enables more accurate recommendations.</a:t>
            </a:r>
            <a:endParaRPr lang="en-US" dirty="0"/>
          </a:p>
          <a:p>
            <a:pPr marL="0" indent="0">
              <a:spcBef>
                <a:spcPts val="2500"/>
              </a:spcBef>
              <a:buFont typeface="Arial" panose="020B0604020202020204" pitchFamily="34" charset="0"/>
              <a:buNone/>
            </a:pPr>
            <a:r>
              <a:rPr lang="en-US" b="1" dirty="0"/>
              <a:t>Real-time Data Streaming</a:t>
            </a:r>
          </a:p>
          <a:p>
            <a:pPr marL="0" lvl="1" indent="0">
              <a:buFont typeface="Arial" panose="020B0604020202020204" pitchFamily="34" charset="0"/>
              <a:buNone/>
            </a:pPr>
            <a:r>
              <a:rPr dirty="0"/>
              <a:t>Adding real-time streaming with Apache Kafka enables live data ingestion and timely updates.</a:t>
            </a:r>
            <a:endParaRPr lang="en-US" dirty="0"/>
          </a:p>
          <a:p>
            <a:pPr marL="0" indent="0">
              <a:spcBef>
                <a:spcPts val="2500"/>
              </a:spcBef>
              <a:buFont typeface="Arial" panose="020B0604020202020204" pitchFamily="34" charset="0"/>
              <a:buNone/>
            </a:pPr>
            <a:r>
              <a:rPr lang="en-US" b="1" dirty="0"/>
              <a:t>Cloud Deployment</a:t>
            </a:r>
          </a:p>
          <a:p>
            <a:pPr marL="0" lvl="1" indent="0">
              <a:buFont typeface="Arial" panose="020B0604020202020204" pitchFamily="34" charset="0"/>
              <a:buNone/>
            </a:pPr>
            <a:r>
              <a:rPr dirty="0"/>
              <a:t>Deploying on cloud platforms provides elastic scaling and managed infrastructure for SAYS system.</a:t>
            </a:r>
            <a:endParaRPr lang="en-US" dirty="0"/>
          </a:p>
          <a:p>
            <a:pPr marL="0" indent="0">
              <a:spcBef>
                <a:spcPts val="2500"/>
              </a:spcBef>
              <a:buFont typeface="Arial" panose="020B0604020202020204" pitchFamily="34" charset="0"/>
              <a:buNone/>
            </a:pPr>
            <a:r>
              <a:rPr lang="en-US" b="1" dirty="0"/>
              <a:t>Enhanced User Interface</a:t>
            </a:r>
          </a:p>
          <a:p>
            <a:pPr marL="0" lvl="1" indent="0">
              <a:buFont typeface="Arial" panose="020B0604020202020204" pitchFamily="34" charset="0"/>
              <a:buNone/>
            </a:pPr>
            <a:r>
              <a:rPr dirty="0"/>
              <a:t>Improved UI with visual analytics and personalized dashboards increases user engagement and insights.</a:t>
            </a:r>
            <a:endParaRPr lang="en-US" dirty="0"/>
          </a:p>
        </p:txBody>
      </p:sp>
      <p:sp>
        <p:nvSpPr>
          <p:cNvPr id="6" name="Slide Number Placeholder 5">
            <a:extLst>
              <a:ext uri="{FF2B5EF4-FFF2-40B4-BE49-F238E27FC236}">
                <a16:creationId xmlns:a16="http://schemas.microsoft.com/office/drawing/2014/main" id="{2139CB01-6635-3FF8-0969-ED195B30A849}"/>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3821352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EDABF-7176-4A42-8EF9-E5D4DD31FF6C}">
  <ds:schemaRefs>
    <ds:schemaRef ds:uri="http://purl.org/dc/terms/"/>
    <ds:schemaRef ds:uri="http://schemas.microsoft.com/office/2006/documentManagement/types"/>
    <ds:schemaRef ds:uri="http://purl.org/dc/elements/1.1/"/>
    <ds:schemaRef ds:uri="http://schemas.openxmlformats.org/package/2006/metadata/core-properties"/>
    <ds:schemaRef ds:uri="16c05727-aa75-4e4a-9b5f-8a80a1165891"/>
    <ds:schemaRef ds:uri="http://www.w3.org/XML/1998/namespace"/>
    <ds:schemaRef ds:uri="http://schemas.microsoft.com/office/2006/metadata/properties"/>
    <ds:schemaRef ds:uri="http://purl.org/dc/dcmitype/"/>
    <ds:schemaRef ds:uri="http://schemas.microsoft.com/office/infopath/2007/PartnerControls"/>
    <ds:schemaRef ds:uri="http://schemas.microsoft.com/sharepoint/v3"/>
    <ds:schemaRef ds:uri="230e9df3-be65-4c73-a93b-d1236ebd677e"/>
    <ds:schemaRef ds:uri="71af3243-3dd4-4a8d-8c0d-dd76da1f02a5"/>
  </ds:schemaRefs>
</ds:datastoreItem>
</file>

<file path=customXml/itemProps2.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3301439-688F-4D19-B908-B48B62C5607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732</TotalTime>
  <Words>2188</Words>
  <Application>Microsoft Office PowerPoint</Application>
  <PresentationFormat>Widescreen</PresentationFormat>
  <Paragraphs>151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Bahnschrift Light</vt:lpstr>
      <vt:lpstr>Circinate</vt:lpstr>
      <vt:lpstr>Song Analysis and Yielding Suggestions (SAYS)</vt:lpstr>
      <vt:lpstr>Project Overview</vt:lpstr>
      <vt:lpstr>Challenges and Need for Personalization</vt:lpstr>
      <vt:lpstr>Objectives and Requirements</vt:lpstr>
      <vt:lpstr>Dataset and Feature eNGINEERING</vt:lpstr>
      <vt:lpstr>Pipeline and Algorithms</vt:lpstr>
      <vt:lpstr>MODELS</vt:lpstr>
      <vt:lpstr>Architecture and Components</vt:lpstr>
      <vt:lpstr>Achievements and Impact</vt:lpstr>
      <vt:lpstr>Metrics and Analysis</vt:lpstr>
      <vt:lpstr>Challenges Addressed</vt:lpstr>
      <vt:lpstr>Future Extensions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Song Analysis and Yielding Suggestions (SAYS)</dc:title>
  <dc:creator>Sonu Goyal</dc:creator>
  <cp:keywords>DA 231o Data Engineering at Scale (August 2025 Term)</cp:keywords>
  <cp:lastModifiedBy>Ajay kumar Gupta</cp:lastModifiedBy>
  <cp:revision>11</cp:revision>
  <dcterms:created xsi:type="dcterms:W3CDTF">2024-06-26T20:20:27Z</dcterms:created>
  <dcterms:modified xsi:type="dcterms:W3CDTF">2025-11-30T14:59:43Z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ClassificationContentMarkingFooterText">
    <vt:lpwstr>Personal - Individual Use</vt:lpwstr>
  </property>
  <property fmtid="{D5CDD505-2E9C-101B-9397-08002B2CF9AE}" pid="5" name="ClassificationContentMarkingFooterLocations">
    <vt:lpwstr>Circinate:9</vt:lpwstr>
  </property>
  <property fmtid="{D5CDD505-2E9C-101B-9397-08002B2CF9AE}" pid="6" name="MSIP_Label_08db2a94-1328-4cb2-b589-c6efe5808a7a_Enabled">
    <vt:lpwstr>true</vt:lpwstr>
  </property>
  <property fmtid="{D5CDD505-2E9C-101B-9397-08002B2CF9AE}" pid="7" name="MSIP_Label_08db2a94-1328-4cb2-b589-c6efe5808a7a_SetDate">
    <vt:lpwstr>2025-11-27T09:59:58Z</vt:lpwstr>
  </property>
  <property fmtid="{D5CDD505-2E9C-101B-9397-08002B2CF9AE}" pid="8" name="MSIP_Label_08db2a94-1328-4cb2-b589-c6efe5808a7a_Method">
    <vt:lpwstr>Privileged</vt:lpwstr>
  </property>
  <property fmtid="{D5CDD505-2E9C-101B-9397-08002B2CF9AE}" pid="9" name="MSIP_Label_08db2a94-1328-4cb2-b589-c6efe5808a7a_Name">
    <vt:lpwstr>Personal - Individual Use</vt:lpwstr>
  </property>
  <property fmtid="{D5CDD505-2E9C-101B-9397-08002B2CF9AE}" pid="10" name="MSIP_Label_08db2a94-1328-4cb2-b589-c6efe5808a7a_SiteId">
    <vt:lpwstr>258ac4e4-146a-411e-9dc8-79a9e12fd6da</vt:lpwstr>
  </property>
  <property fmtid="{D5CDD505-2E9C-101B-9397-08002B2CF9AE}" pid="11" name="MSIP_Label_08db2a94-1328-4cb2-b589-c6efe5808a7a_ActionId">
    <vt:lpwstr>953804ca-9016-49fd-ad13-9bbcf28cb5b2</vt:lpwstr>
  </property>
  <property fmtid="{D5CDD505-2E9C-101B-9397-08002B2CF9AE}" pid="12" name="MSIP_Label_08db2a94-1328-4cb2-b589-c6efe5808a7a_ContentBits">
    <vt:lpwstr>2</vt:lpwstr>
  </property>
  <property fmtid="{D5CDD505-2E9C-101B-9397-08002B2CF9AE}" pid="13" name="MSIP_Label_08db2a94-1328-4cb2-b589-c6efe5808a7a_Tag">
    <vt:lpwstr>10, 0, 1, 1</vt:lpwstr>
  </property>
</Properties>
</file>